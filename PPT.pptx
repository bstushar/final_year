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77" r:id="rId4"/>
    <p:sldId id="271" r:id="rId5"/>
    <p:sldId id="272" r:id="rId6"/>
    <p:sldId id="279" r:id="rId7"/>
    <p:sldId id="280" r:id="rId8"/>
    <p:sldId id="281" r:id="rId9"/>
    <p:sldId id="282" r:id="rId10"/>
    <p:sldId id="283" r:id="rId11"/>
    <p:sldId id="284" r:id="rId12"/>
    <p:sldId id="292" r:id="rId13"/>
    <p:sldId id="285" r:id="rId14"/>
    <p:sldId id="286" r:id="rId15"/>
    <p:sldId id="287" r:id="rId16"/>
    <p:sldId id="288" r:id="rId17"/>
    <p:sldId id="289" r:id="rId18"/>
    <p:sldId id="290" r:id="rId19"/>
    <p:sldId id="291" r:id="rId20"/>
    <p:sldId id="270" r:id="rId2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hdMmlsZ20QNm3hNZkXwKeGTA8QX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6949F45-BA8F-4793-B73D-0D9B817494BA}">
  <a:tblStyle styleId="{B6949F45-BA8F-4793-B73D-0D9B817494B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F32CADD-FAF2-4F70-B60C-E4F6BD2D7B1E}"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108" y="65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 name="Google Shape;93;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7D453A1C-00CA-ABDA-DA99-155E486AF6BB}"/>
            </a:ext>
          </a:extLst>
        </p:cNvPr>
        <p:cNvGrpSpPr/>
        <p:nvPr/>
      </p:nvGrpSpPr>
      <p:grpSpPr>
        <a:xfrm>
          <a:off x="0" y="0"/>
          <a:ext cx="0" cy="0"/>
          <a:chOff x="0" y="0"/>
          <a:chExt cx="0" cy="0"/>
        </a:xfrm>
      </p:grpSpPr>
      <p:sp>
        <p:nvSpPr>
          <p:cNvPr id="117" name="Google Shape;117;g134c9dbe47e_0_1:notes">
            <a:extLst>
              <a:ext uri="{FF2B5EF4-FFF2-40B4-BE49-F238E27FC236}">
                <a16:creationId xmlns:a16="http://schemas.microsoft.com/office/drawing/2014/main" id="{DA73C6AD-95C9-03EF-C349-11FCE12D521B}"/>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g134c9dbe47e_0_1:notes">
            <a:extLst>
              <a:ext uri="{FF2B5EF4-FFF2-40B4-BE49-F238E27FC236}">
                <a16:creationId xmlns:a16="http://schemas.microsoft.com/office/drawing/2014/main" id="{468F353F-8F6B-8F28-FB2E-2A8396FB39F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g134c9dbe47e_0_1:notes">
            <a:extLst>
              <a:ext uri="{FF2B5EF4-FFF2-40B4-BE49-F238E27FC236}">
                <a16:creationId xmlns:a16="http://schemas.microsoft.com/office/drawing/2014/main" id="{C72DC042-2179-8EF6-C3FD-09227C5A3C64}"/>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extLst>
      <p:ext uri="{BB962C8B-B14F-4D97-AF65-F5344CB8AC3E}">
        <p14:creationId xmlns:p14="http://schemas.microsoft.com/office/powerpoint/2010/main" val="33798325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D1E5383D-4985-B489-B359-180448F4C7CA}"/>
            </a:ext>
          </a:extLst>
        </p:cNvPr>
        <p:cNvGrpSpPr/>
        <p:nvPr/>
      </p:nvGrpSpPr>
      <p:grpSpPr>
        <a:xfrm>
          <a:off x="0" y="0"/>
          <a:ext cx="0" cy="0"/>
          <a:chOff x="0" y="0"/>
          <a:chExt cx="0" cy="0"/>
        </a:xfrm>
      </p:grpSpPr>
      <p:sp>
        <p:nvSpPr>
          <p:cNvPr id="117" name="Google Shape;117;g134c9dbe47e_0_1:notes">
            <a:extLst>
              <a:ext uri="{FF2B5EF4-FFF2-40B4-BE49-F238E27FC236}">
                <a16:creationId xmlns:a16="http://schemas.microsoft.com/office/drawing/2014/main" id="{0A8932CA-A508-A676-6DCA-2B39CFDDC73D}"/>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g134c9dbe47e_0_1:notes">
            <a:extLst>
              <a:ext uri="{FF2B5EF4-FFF2-40B4-BE49-F238E27FC236}">
                <a16:creationId xmlns:a16="http://schemas.microsoft.com/office/drawing/2014/main" id="{0CFFAB8A-E451-5191-2FA9-5EBF60FF3A54}"/>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g134c9dbe47e_0_1:notes">
            <a:extLst>
              <a:ext uri="{FF2B5EF4-FFF2-40B4-BE49-F238E27FC236}">
                <a16:creationId xmlns:a16="http://schemas.microsoft.com/office/drawing/2014/main" id="{8AC32436-49D7-D191-78F6-0847B28B5A2A}"/>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a:t>
            </a:fld>
            <a:endParaRPr/>
          </a:p>
        </p:txBody>
      </p:sp>
    </p:spTree>
    <p:extLst>
      <p:ext uri="{BB962C8B-B14F-4D97-AF65-F5344CB8AC3E}">
        <p14:creationId xmlns:p14="http://schemas.microsoft.com/office/powerpoint/2010/main" val="465454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262909b5390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g262909b5390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83487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262909b5390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g262909b5390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66437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262909b5390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g262909b5390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760438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3" name="Google Shape;203;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5"/>
        <p:cNvGrpSpPr/>
        <p:nvPr/>
      </p:nvGrpSpPr>
      <p:grpSpPr>
        <a:xfrm>
          <a:off x="0" y="0"/>
          <a:ext cx="0" cy="0"/>
          <a:chOff x="0" y="0"/>
          <a:chExt cx="0" cy="0"/>
        </a:xfrm>
      </p:grpSpPr>
      <p:sp>
        <p:nvSpPr>
          <p:cNvPr id="16" name="Google Shape;16;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18" name="Google Shape;18;p1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19" name="Google Shape;19;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2"/>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5" name="Google Shape;25;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8"/>
        <p:cNvGrpSpPr/>
        <p:nvPr/>
      </p:nvGrpSpPr>
      <p:grpSpPr>
        <a:xfrm>
          <a:off x="0" y="0"/>
          <a:ext cx="0" cy="0"/>
          <a:chOff x="0" y="0"/>
          <a:chExt cx="0" cy="0"/>
        </a:xfrm>
      </p:grpSpPr>
      <p:sp>
        <p:nvSpPr>
          <p:cNvPr id="29" name="Google Shape;29;p1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31" name="Google Shape;31;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1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7" name="Google Shape;37;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1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1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1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1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9"/>
          <p:cNvSpPr>
            <a:spLocks noGrp="1"/>
          </p:cNvSpPr>
          <p:nvPr>
            <p:ph type="pic" idx="2"/>
          </p:nvPr>
        </p:nvSpPr>
        <p:spPr>
          <a:xfrm>
            <a:off x="1792288" y="612775"/>
            <a:ext cx="5486400" cy="4114800"/>
          </a:xfrm>
          <a:prstGeom prst="rect">
            <a:avLst/>
          </a:prstGeom>
          <a:noFill/>
          <a:ln>
            <a:noFill/>
          </a:ln>
        </p:spPr>
      </p:sp>
      <p:sp>
        <p:nvSpPr>
          <p:cNvPr id="68" name="Google Shape;68;p1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title"/>
          </p:nvPr>
        </p:nvSpPr>
        <p:spPr>
          <a:xfrm>
            <a:off x="457200" y="1905000"/>
            <a:ext cx="8229600" cy="1143000"/>
          </a:xfrm>
          <a:prstGeom prst="rect">
            <a:avLst/>
          </a:prstGeom>
          <a:noFill/>
          <a:ln>
            <a:noFill/>
          </a:ln>
        </p:spPr>
        <p:txBody>
          <a:bodyPr spcFirstLastPara="1" wrap="square" lIns="91425" tIns="45700" rIns="91425" bIns="45700" anchor="ctr" anchorCtr="0">
            <a:normAutofit fontScale="90000"/>
          </a:bodyPr>
          <a:lstStyle/>
          <a:p>
            <a:pPr marL="0" lvl="0" indent="0" rtl="0">
              <a:lnSpc>
                <a:spcPct val="100000"/>
              </a:lnSpc>
              <a:spcBef>
                <a:spcPts val="0"/>
              </a:spcBef>
              <a:spcAft>
                <a:spcPts val="0"/>
              </a:spcAft>
              <a:buClr>
                <a:schemeClr val="dk1"/>
              </a:buClr>
              <a:buSzPct val="100000"/>
              <a:buFont typeface="Times New Roman"/>
              <a:buNone/>
            </a:pPr>
            <a:r>
              <a:rPr lang="en-US" sz="3200" b="1" dirty="0">
                <a:latin typeface="Times New Roman"/>
                <a:ea typeface="Times New Roman"/>
                <a:cs typeface="Times New Roman"/>
                <a:sym typeface="Times New Roman"/>
              </a:rPr>
              <a:t>Final Year Project titled</a:t>
            </a:r>
            <a:br>
              <a:rPr lang="en-US" sz="3200" b="1" dirty="0">
                <a:latin typeface="Times New Roman"/>
                <a:ea typeface="Times New Roman"/>
                <a:cs typeface="Times New Roman"/>
                <a:sym typeface="Times New Roman"/>
              </a:rPr>
            </a:br>
            <a:r>
              <a:rPr lang="en-US" sz="3200" b="1" dirty="0">
                <a:solidFill>
                  <a:srgbClr val="FF0000"/>
                </a:solidFill>
                <a:latin typeface="Times New Roman"/>
                <a:ea typeface="Times New Roman"/>
                <a:cs typeface="Times New Roman"/>
                <a:sym typeface="Times New Roman"/>
              </a:rPr>
              <a:t>“</a:t>
            </a:r>
            <a:r>
              <a:rPr lang="en-US" sz="4000" b="1" dirty="0">
                <a:solidFill>
                  <a:srgbClr val="FF0000"/>
                </a:solidFill>
                <a:latin typeface="Times New Roman"/>
                <a:ea typeface="Times New Roman"/>
                <a:cs typeface="Times New Roman"/>
                <a:sym typeface="Times New Roman"/>
              </a:rPr>
              <a:t>Speech To Text using CNN-LSTM”</a:t>
            </a:r>
            <a:br>
              <a:rPr lang="en-US" sz="4000" b="1" dirty="0">
                <a:latin typeface="Times New Roman"/>
                <a:ea typeface="Times New Roman"/>
                <a:cs typeface="Times New Roman"/>
                <a:sym typeface="Times New Roman"/>
              </a:rPr>
            </a:br>
            <a:r>
              <a:rPr lang="en-US" sz="2200" b="1" dirty="0">
                <a:latin typeface="Times New Roman"/>
                <a:ea typeface="Times New Roman"/>
                <a:cs typeface="Times New Roman"/>
                <a:sym typeface="Times New Roman"/>
              </a:rPr>
              <a:t>AY 25-26</a:t>
            </a:r>
            <a:endParaRPr sz="2200" dirty="0"/>
          </a:p>
        </p:txBody>
      </p:sp>
      <p:sp>
        <p:nvSpPr>
          <p:cNvPr id="89" name="Google Shape;89;p1"/>
          <p:cNvSpPr txBox="1">
            <a:spLocks noGrp="1"/>
          </p:cNvSpPr>
          <p:nvPr>
            <p:ph type="body" idx="1"/>
          </p:nvPr>
        </p:nvSpPr>
        <p:spPr>
          <a:xfrm>
            <a:off x="361335" y="3573377"/>
            <a:ext cx="4267200" cy="176062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rgbClr val="00B050"/>
              </a:buClr>
              <a:buSzPts val="1750"/>
              <a:buNone/>
            </a:pPr>
            <a:r>
              <a:rPr lang="en-US" sz="2250" dirty="0">
                <a:solidFill>
                  <a:srgbClr val="00B050"/>
                </a:solidFill>
                <a:latin typeface="Times New Roman"/>
                <a:ea typeface="Times New Roman"/>
                <a:cs typeface="Times New Roman"/>
                <a:sym typeface="Times New Roman"/>
              </a:rPr>
              <a:t>Team Details</a:t>
            </a:r>
            <a:endParaRPr sz="1200" dirty="0"/>
          </a:p>
          <a:p>
            <a:pPr marL="0" lvl="0" indent="0" algn="l" rtl="0">
              <a:lnSpc>
                <a:spcPct val="90000"/>
              </a:lnSpc>
              <a:spcBef>
                <a:spcPts val="560"/>
              </a:spcBef>
              <a:spcAft>
                <a:spcPts val="0"/>
              </a:spcAft>
              <a:buClr>
                <a:schemeClr val="dk1"/>
              </a:buClr>
              <a:buSzPts val="1750"/>
              <a:buNone/>
            </a:pPr>
            <a:r>
              <a:rPr lang="en-US" sz="1950" b="1" dirty="0">
                <a:latin typeface="Times New Roman"/>
                <a:ea typeface="Times New Roman"/>
                <a:cs typeface="Times New Roman"/>
                <a:sym typeface="Times New Roman"/>
              </a:rPr>
              <a:t>1CR22IS004</a:t>
            </a:r>
            <a:r>
              <a:rPr lang="en-US" sz="1950" b="1" dirty="0">
                <a:solidFill>
                  <a:schemeClr val="dk1"/>
                </a:solidFill>
                <a:latin typeface="Times New Roman"/>
                <a:ea typeface="Times New Roman"/>
                <a:cs typeface="Times New Roman"/>
                <a:sym typeface="Times New Roman"/>
              </a:rPr>
              <a:t> :</a:t>
            </a:r>
            <a:r>
              <a:rPr lang="en-US" sz="1950" b="1" dirty="0">
                <a:latin typeface="Times New Roman"/>
                <a:ea typeface="Times New Roman"/>
                <a:cs typeface="Times New Roman"/>
                <a:sym typeface="Times New Roman"/>
              </a:rPr>
              <a:t> Abhimanyu Tiwari	</a:t>
            </a:r>
          </a:p>
          <a:p>
            <a:pPr marL="0" lvl="0" indent="0" algn="l" rtl="0">
              <a:lnSpc>
                <a:spcPct val="90000"/>
              </a:lnSpc>
              <a:spcBef>
                <a:spcPts val="560"/>
              </a:spcBef>
              <a:spcAft>
                <a:spcPts val="0"/>
              </a:spcAft>
              <a:buClr>
                <a:schemeClr val="dk1"/>
              </a:buClr>
              <a:buSzPts val="1750"/>
              <a:buNone/>
            </a:pPr>
            <a:r>
              <a:rPr lang="en-US" sz="1950" b="1" dirty="0">
                <a:latin typeface="Times New Roman"/>
                <a:ea typeface="Times New Roman"/>
                <a:cs typeface="Times New Roman"/>
                <a:sym typeface="Times New Roman"/>
              </a:rPr>
              <a:t>1CR22IS035 : BS Tushar</a:t>
            </a:r>
          </a:p>
          <a:p>
            <a:pPr marL="0" lvl="0" indent="0" algn="l" rtl="0">
              <a:lnSpc>
                <a:spcPct val="90000"/>
              </a:lnSpc>
              <a:spcBef>
                <a:spcPts val="560"/>
              </a:spcBef>
              <a:spcAft>
                <a:spcPts val="0"/>
              </a:spcAft>
              <a:buClr>
                <a:schemeClr val="dk1"/>
              </a:buClr>
              <a:buSzPts val="1750"/>
              <a:buNone/>
            </a:pPr>
            <a:r>
              <a:rPr lang="en-US" sz="1950" b="1" dirty="0">
                <a:latin typeface="Times New Roman"/>
                <a:ea typeface="Times New Roman"/>
                <a:cs typeface="Times New Roman"/>
                <a:sym typeface="Times New Roman"/>
              </a:rPr>
              <a:t>1CR22IS026 : Atiksh V Jain</a:t>
            </a:r>
            <a:endParaRPr sz="900" b="1" dirty="0"/>
          </a:p>
          <a:p>
            <a:pPr marL="0" lvl="0" indent="0" algn="l" rtl="0">
              <a:lnSpc>
                <a:spcPct val="90000"/>
              </a:lnSpc>
              <a:spcBef>
                <a:spcPts val="576"/>
              </a:spcBef>
              <a:spcAft>
                <a:spcPts val="0"/>
              </a:spcAft>
              <a:buClr>
                <a:schemeClr val="dk1"/>
              </a:buClr>
              <a:buSzPts val="1800"/>
              <a:buNone/>
            </a:pPr>
            <a:endParaRPr sz="2300" dirty="0">
              <a:latin typeface="Times New Roman"/>
              <a:ea typeface="Times New Roman"/>
              <a:cs typeface="Times New Roman"/>
              <a:sym typeface="Times New Roman"/>
            </a:endParaRPr>
          </a:p>
          <a:p>
            <a:pPr marL="0" lvl="0" indent="0" algn="l" rtl="0">
              <a:lnSpc>
                <a:spcPct val="90000"/>
              </a:lnSpc>
              <a:spcBef>
                <a:spcPts val="576"/>
              </a:spcBef>
              <a:spcAft>
                <a:spcPts val="0"/>
              </a:spcAft>
              <a:buClr>
                <a:schemeClr val="dk1"/>
              </a:buClr>
              <a:buSzPts val="1800"/>
              <a:buNone/>
            </a:pPr>
            <a:endParaRPr sz="1800" dirty="0">
              <a:latin typeface="Times New Roman"/>
              <a:ea typeface="Times New Roman"/>
              <a:cs typeface="Times New Roman"/>
              <a:sym typeface="Times New Roman"/>
            </a:endParaRPr>
          </a:p>
        </p:txBody>
      </p:sp>
      <p:sp>
        <p:nvSpPr>
          <p:cNvPr id="90" name="Google Shape;90;p1"/>
          <p:cNvSpPr txBox="1">
            <a:spLocks noGrp="1"/>
          </p:cNvSpPr>
          <p:nvPr>
            <p:ph type="body" idx="2"/>
          </p:nvPr>
        </p:nvSpPr>
        <p:spPr>
          <a:xfrm>
            <a:off x="4628535" y="3573378"/>
            <a:ext cx="4267200" cy="2348100"/>
          </a:xfrm>
          <a:prstGeom prst="rect">
            <a:avLst/>
          </a:prstGeom>
          <a:noFill/>
          <a:ln>
            <a:noFill/>
          </a:ln>
        </p:spPr>
        <p:txBody>
          <a:bodyPr spcFirstLastPara="1" wrap="square" lIns="91425" tIns="45700" rIns="91425" bIns="45700" anchor="t" anchorCtr="0">
            <a:normAutofit fontScale="92500"/>
          </a:bodyPr>
          <a:lstStyle/>
          <a:p>
            <a:pPr marL="0" lvl="0" indent="0" algn="l" rtl="0">
              <a:lnSpc>
                <a:spcPct val="100000"/>
              </a:lnSpc>
              <a:spcBef>
                <a:spcPts val="0"/>
              </a:spcBef>
              <a:spcAft>
                <a:spcPts val="0"/>
              </a:spcAft>
              <a:buClr>
                <a:schemeClr val="dk1"/>
              </a:buClr>
              <a:buSzPct val="100000"/>
              <a:buNone/>
            </a:pPr>
            <a:r>
              <a:rPr lang="en-US" sz="2100" dirty="0">
                <a:latin typeface="Times New Roman" panose="02020603050405020304" pitchFamily="18" charset="0"/>
                <a:ea typeface="Times New Roman"/>
                <a:cs typeface="Times New Roman" panose="02020603050405020304" pitchFamily="18" charset="0"/>
                <a:sym typeface="Times New Roman"/>
              </a:rPr>
              <a:t>                            </a:t>
            </a:r>
            <a:r>
              <a:rPr lang="en-US" sz="2100" dirty="0">
                <a:solidFill>
                  <a:srgbClr val="00B050"/>
                </a:solidFill>
                <a:latin typeface="Times New Roman" panose="02020603050405020304" pitchFamily="18" charset="0"/>
                <a:ea typeface="Times New Roman"/>
                <a:cs typeface="Times New Roman" panose="02020603050405020304" pitchFamily="18" charset="0"/>
                <a:sym typeface="Times New Roman"/>
              </a:rPr>
              <a:t>Under the Guidance of</a:t>
            </a:r>
            <a:endParaRPr sz="2100" dirty="0">
              <a:latin typeface="Times New Roman" panose="02020603050405020304" pitchFamily="18" charset="0"/>
              <a:cs typeface="Times New Roman" panose="02020603050405020304" pitchFamily="18" charset="0"/>
            </a:endParaRPr>
          </a:p>
          <a:p>
            <a:pPr marL="0" lvl="0" indent="0" algn="ctr">
              <a:spcBef>
                <a:spcPts val="640"/>
              </a:spcBef>
              <a:buSzPct val="38657"/>
              <a:buNone/>
            </a:pPr>
            <a:r>
              <a:rPr lang="en-US" sz="2100" dirty="0">
                <a:latin typeface="Times New Roman" panose="02020603050405020304" pitchFamily="18" charset="0"/>
                <a:ea typeface="Times New Roman"/>
                <a:cs typeface="Times New Roman" panose="02020603050405020304" pitchFamily="18" charset="0"/>
                <a:sym typeface="Times New Roman"/>
              </a:rPr>
              <a:t>                        </a:t>
            </a:r>
            <a:r>
              <a:rPr lang="en-US" sz="2100" b="1" dirty="0">
                <a:latin typeface="Times New Roman" panose="02020603050405020304" pitchFamily="18" charset="0"/>
                <a:ea typeface="Times New Roman"/>
                <a:cs typeface="Times New Roman" panose="02020603050405020304" pitchFamily="18" charset="0"/>
                <a:sym typeface="Times New Roman"/>
              </a:rPr>
              <a:t>Shilpa Mangesh Pande                              	    Asst. Professor,                                           	 Dept of ISE </a:t>
            </a:r>
            <a:endParaRPr sz="2100" b="1" dirty="0">
              <a:latin typeface="Times New Roman" panose="02020603050405020304" pitchFamily="18" charset="0"/>
              <a:ea typeface="Times New Roman"/>
              <a:cs typeface="Times New Roman" panose="02020603050405020304" pitchFamily="18" charset="0"/>
              <a:sym typeface="Times New Roman"/>
            </a:endParaRPr>
          </a:p>
          <a:p>
            <a:pPr marL="0" lvl="0" indent="0" algn="l" rtl="0">
              <a:lnSpc>
                <a:spcPct val="100000"/>
              </a:lnSpc>
              <a:spcBef>
                <a:spcPts val="640"/>
              </a:spcBef>
              <a:spcAft>
                <a:spcPts val="0"/>
              </a:spcAft>
              <a:buClr>
                <a:schemeClr val="dk1"/>
              </a:buClr>
              <a:buSzPct val="100000"/>
              <a:buNone/>
            </a:pPr>
            <a:r>
              <a:rPr lang="en-US" sz="3200" dirty="0">
                <a:latin typeface="Times New Roman"/>
                <a:ea typeface="Times New Roman"/>
                <a:cs typeface="Times New Roman"/>
                <a:sym typeface="Times New Roman"/>
              </a:rPr>
              <a:t> </a:t>
            </a:r>
            <a:endParaRPr sz="4200" dirty="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txBox="1">
            <a:spLocks noGrp="1"/>
          </p:cNvSpPr>
          <p:nvPr>
            <p:ph type="body" idx="1"/>
          </p:nvPr>
        </p:nvSpPr>
        <p:spPr>
          <a:xfrm>
            <a:off x="441960" y="1604211"/>
            <a:ext cx="8321040" cy="4110789"/>
          </a:xfrm>
          <a:prstGeom prst="rect">
            <a:avLst/>
          </a:prstGeom>
          <a:noFill/>
          <a:ln>
            <a:noFill/>
          </a:ln>
        </p:spPr>
        <p:txBody>
          <a:bodyPr spcFirstLastPara="1" wrap="square" lIns="91425" tIns="45700" rIns="91425" bIns="45700" anchor="t" anchorCtr="0">
            <a:noAutofit/>
          </a:bodyPr>
          <a:lstStyle/>
          <a:p>
            <a:pPr marL="514350" lvl="0" indent="-514350" algn="l" rtl="0">
              <a:lnSpc>
                <a:spcPct val="100000"/>
              </a:lnSpc>
              <a:spcBef>
                <a:spcPts val="480"/>
              </a:spcBef>
              <a:spcAft>
                <a:spcPts val="0"/>
              </a:spcAft>
              <a:buAutoNum type="arabicPeriod"/>
            </a:pPr>
            <a:r>
              <a:rPr lang="en-US" sz="2000" b="1" dirty="0">
                <a:solidFill>
                  <a:schemeClr val="tx1"/>
                </a:solidFill>
                <a:latin typeface="Times New Roman"/>
                <a:ea typeface="Times New Roman"/>
                <a:cs typeface="Times New Roman"/>
                <a:sym typeface="Times New Roman"/>
              </a:rPr>
              <a:t>Motivation</a:t>
            </a:r>
          </a:p>
          <a:p>
            <a:pPr marL="514350" lvl="0" indent="-514350" algn="l" rtl="0">
              <a:lnSpc>
                <a:spcPct val="100000"/>
              </a:lnSpc>
              <a:spcBef>
                <a:spcPts val="480"/>
              </a:spcBef>
              <a:spcAft>
                <a:spcPts val="0"/>
              </a:spcAft>
              <a:buAutoNum type="arabicPeriod"/>
            </a:pPr>
            <a:r>
              <a:rPr lang="en-US" sz="2000" b="1" dirty="0">
                <a:solidFill>
                  <a:schemeClr val="tx1"/>
                </a:solidFill>
                <a:latin typeface="Times New Roman"/>
                <a:ea typeface="Times New Roman"/>
                <a:cs typeface="Times New Roman"/>
                <a:sym typeface="Times New Roman"/>
              </a:rPr>
              <a:t>Abstract</a:t>
            </a:r>
          </a:p>
          <a:p>
            <a:pPr marL="514350" lvl="0" indent="-514350" algn="l" rtl="0">
              <a:lnSpc>
                <a:spcPct val="100000"/>
              </a:lnSpc>
              <a:spcBef>
                <a:spcPts val="480"/>
              </a:spcBef>
              <a:spcAft>
                <a:spcPts val="0"/>
              </a:spcAft>
              <a:buAutoNum type="arabicPeriod"/>
            </a:pPr>
            <a:r>
              <a:rPr lang="en-US" sz="2000" b="1" dirty="0">
                <a:solidFill>
                  <a:schemeClr val="tx1"/>
                </a:solidFill>
                <a:latin typeface="Times New Roman"/>
                <a:ea typeface="Times New Roman"/>
                <a:cs typeface="Times New Roman"/>
                <a:sym typeface="Times New Roman"/>
              </a:rPr>
              <a:t>Introduction</a:t>
            </a:r>
          </a:p>
          <a:p>
            <a:pPr marL="514350" lvl="0" indent="-514350" algn="l" rtl="0">
              <a:lnSpc>
                <a:spcPct val="100000"/>
              </a:lnSpc>
              <a:spcBef>
                <a:spcPts val="480"/>
              </a:spcBef>
              <a:spcAft>
                <a:spcPts val="0"/>
              </a:spcAft>
              <a:buAutoNum type="arabicPeriod"/>
            </a:pPr>
            <a:r>
              <a:rPr lang="en-US" sz="2000" b="1" dirty="0">
                <a:solidFill>
                  <a:schemeClr val="tx1"/>
                </a:solidFill>
                <a:latin typeface="Times New Roman"/>
                <a:ea typeface="Times New Roman"/>
                <a:cs typeface="Times New Roman"/>
                <a:sym typeface="Times New Roman"/>
              </a:rPr>
              <a:t>Literature Survey</a:t>
            </a:r>
          </a:p>
          <a:p>
            <a:pPr marL="514350" lvl="0" indent="-514350" algn="l" rtl="0">
              <a:lnSpc>
                <a:spcPct val="100000"/>
              </a:lnSpc>
              <a:spcBef>
                <a:spcPts val="480"/>
              </a:spcBef>
              <a:spcAft>
                <a:spcPts val="0"/>
              </a:spcAft>
              <a:buAutoNum type="arabicPeriod"/>
            </a:pPr>
            <a:r>
              <a:rPr lang="en-US" sz="2000" b="1" dirty="0">
                <a:solidFill>
                  <a:schemeClr val="tx1"/>
                </a:solidFill>
                <a:latin typeface="Times New Roman"/>
                <a:ea typeface="Times New Roman"/>
                <a:cs typeface="Times New Roman"/>
                <a:sym typeface="Times New Roman"/>
              </a:rPr>
              <a:t>Existing method</a:t>
            </a:r>
          </a:p>
          <a:p>
            <a:pPr marL="514350" lvl="0" indent="-514350" algn="l" rtl="0">
              <a:lnSpc>
                <a:spcPct val="100000"/>
              </a:lnSpc>
              <a:spcBef>
                <a:spcPts val="480"/>
              </a:spcBef>
              <a:spcAft>
                <a:spcPts val="0"/>
              </a:spcAft>
              <a:buAutoNum type="arabicPeriod"/>
            </a:pPr>
            <a:r>
              <a:rPr lang="en-US" sz="2000" b="1" dirty="0">
                <a:solidFill>
                  <a:schemeClr val="tx1"/>
                </a:solidFill>
                <a:latin typeface="Times New Roman"/>
                <a:ea typeface="Times New Roman"/>
                <a:cs typeface="Times New Roman"/>
                <a:sym typeface="Times New Roman"/>
              </a:rPr>
              <a:t>Proposed Methodology</a:t>
            </a:r>
          </a:p>
          <a:p>
            <a:pPr marL="514350" lvl="0" indent="-514350" algn="l" rtl="0">
              <a:lnSpc>
                <a:spcPct val="100000"/>
              </a:lnSpc>
              <a:spcBef>
                <a:spcPts val="480"/>
              </a:spcBef>
              <a:spcAft>
                <a:spcPts val="0"/>
              </a:spcAft>
              <a:buAutoNum type="arabicPeriod"/>
            </a:pPr>
            <a:r>
              <a:rPr lang="en-US" sz="2000" b="1" dirty="0">
                <a:solidFill>
                  <a:schemeClr val="tx1"/>
                </a:solidFill>
                <a:latin typeface="Times New Roman"/>
                <a:ea typeface="Times New Roman"/>
                <a:cs typeface="Times New Roman"/>
                <a:sym typeface="Times New Roman"/>
              </a:rPr>
              <a:t>Results and discussion</a:t>
            </a:r>
          </a:p>
          <a:p>
            <a:pPr marL="514350" lvl="0" indent="-514350" algn="l" rtl="0">
              <a:lnSpc>
                <a:spcPct val="100000"/>
              </a:lnSpc>
              <a:spcBef>
                <a:spcPts val="480"/>
              </a:spcBef>
              <a:spcAft>
                <a:spcPts val="0"/>
              </a:spcAft>
              <a:buAutoNum type="arabicPeriod"/>
            </a:pPr>
            <a:r>
              <a:rPr lang="en-US" sz="2000" b="1" dirty="0">
                <a:solidFill>
                  <a:schemeClr val="tx1"/>
                </a:solidFill>
                <a:latin typeface="Times New Roman"/>
                <a:ea typeface="Times New Roman"/>
                <a:cs typeface="Times New Roman"/>
                <a:sym typeface="Times New Roman"/>
              </a:rPr>
              <a:t>Conclusion and future work</a:t>
            </a:r>
          </a:p>
          <a:p>
            <a:pPr marL="514350" lvl="0" indent="-514350" algn="l" rtl="0">
              <a:lnSpc>
                <a:spcPct val="100000"/>
              </a:lnSpc>
              <a:spcBef>
                <a:spcPts val="480"/>
              </a:spcBef>
              <a:spcAft>
                <a:spcPts val="0"/>
              </a:spcAft>
              <a:buAutoNum type="arabicPeriod"/>
            </a:pPr>
            <a:r>
              <a:rPr lang="en-US" sz="2000" b="1" dirty="0">
                <a:solidFill>
                  <a:schemeClr val="tx1"/>
                </a:solidFill>
                <a:latin typeface="Times New Roman"/>
                <a:ea typeface="Times New Roman"/>
                <a:cs typeface="Times New Roman"/>
                <a:sym typeface="Times New Roman"/>
              </a:rPr>
              <a:t>References</a:t>
            </a:r>
            <a:endParaRPr sz="2000" b="1" dirty="0">
              <a:solidFill>
                <a:schemeClr val="tx1"/>
              </a:solidFill>
              <a:latin typeface="Times New Roman"/>
              <a:ea typeface="Times New Roman"/>
              <a:cs typeface="Times New Roman"/>
              <a:sym typeface="Times New Roman"/>
            </a:endParaRPr>
          </a:p>
          <a:p>
            <a:pPr marL="0" lvl="0" indent="0" algn="l" rtl="0">
              <a:lnSpc>
                <a:spcPct val="100000"/>
              </a:lnSpc>
              <a:spcBef>
                <a:spcPts val="480"/>
              </a:spcBef>
              <a:spcAft>
                <a:spcPts val="0"/>
              </a:spcAft>
              <a:buClr>
                <a:schemeClr val="dk1"/>
              </a:buClr>
              <a:buSzPts val="2400"/>
              <a:buNone/>
            </a:pPr>
            <a:endParaRPr sz="2000" b="1" dirty="0">
              <a:solidFill>
                <a:schemeClr val="tx1"/>
              </a:solidFill>
              <a:latin typeface="Times New Roman"/>
              <a:ea typeface="Times New Roman"/>
              <a:cs typeface="Times New Roman"/>
              <a:sym typeface="Times New Roman"/>
            </a:endParaRPr>
          </a:p>
        </p:txBody>
      </p:sp>
      <p:sp>
        <p:nvSpPr>
          <p:cNvPr id="96" name="Google Shape;96;p2"/>
          <p:cNvSpPr txBox="1">
            <a:spLocks noGrp="1"/>
          </p:cNvSpPr>
          <p:nvPr>
            <p:ph type="title"/>
          </p:nvPr>
        </p:nvSpPr>
        <p:spPr>
          <a:xfrm>
            <a:off x="441960" y="685800"/>
            <a:ext cx="8229600" cy="115316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2800"/>
              <a:buFont typeface="Arial"/>
              <a:buNone/>
            </a:pPr>
            <a:r>
              <a:rPr lang="en-US" sz="3200" b="1" u="sng" dirty="0">
                <a:latin typeface="Times New Roman"/>
                <a:ea typeface="Times New Roman"/>
                <a:cs typeface="Times New Roman"/>
                <a:sym typeface="Times New Roman"/>
              </a:rPr>
              <a:t>AGENDA</a:t>
            </a:r>
            <a:endParaRPr sz="3200" b="1" dirty="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44730"/>
            <a:ext cx="8229600" cy="572907"/>
          </a:xfrm>
        </p:spPr>
        <p:txBody>
          <a:bodyPr>
            <a:normAutofit fontScale="90000"/>
          </a:bodyPr>
          <a:lstStyle/>
          <a:p>
            <a:r>
              <a:rPr lang="en-US" b="1" u="sng" dirty="0">
                <a:latin typeface="Times New Roman" panose="02020603050405020304" pitchFamily="18" charset="0"/>
                <a:cs typeface="Times New Roman" panose="02020603050405020304" pitchFamily="18" charset="0"/>
              </a:rPr>
              <a:t>Motivation</a:t>
            </a:r>
          </a:p>
        </p:txBody>
      </p:sp>
      <p:sp>
        <p:nvSpPr>
          <p:cNvPr id="3" name="Text Placeholder 2"/>
          <p:cNvSpPr>
            <a:spLocks noGrp="1"/>
          </p:cNvSpPr>
          <p:nvPr>
            <p:ph type="body" idx="1"/>
          </p:nvPr>
        </p:nvSpPr>
        <p:spPr>
          <a:xfrm>
            <a:off x="457200" y="1844040"/>
            <a:ext cx="8229600" cy="4824984"/>
          </a:xfrm>
        </p:spPr>
        <p:txBody>
          <a:bodyPr>
            <a:normAutofit/>
          </a:bodyPr>
          <a:lstStyle/>
          <a:p>
            <a:r>
              <a:rPr lang="en-US" sz="1800" dirty="0">
                <a:latin typeface="Times New Roman" panose="02020603050405020304" pitchFamily="18" charset="0"/>
                <a:cs typeface="Times New Roman" panose="02020603050405020304" pitchFamily="18" charset="0"/>
              </a:rPr>
              <a:t>Automatic Speech Recognition is fundamental for modern human-computer interaction, but maintaining accuracy in noisy environments remains a critical challenge limiting real-world usability</a:t>
            </a:r>
          </a:p>
          <a:p>
            <a:r>
              <a:rPr lang="en-US" sz="1800" dirty="0">
                <a:latin typeface="Times New Roman" panose="02020603050405020304" pitchFamily="18" charset="0"/>
                <a:cs typeface="Times New Roman" panose="02020603050405020304" pitchFamily="18" charset="0"/>
              </a:rPr>
              <a:t>Real-world applications like voice assistants, call-center automation, and smart home devices operate in noisy environments with background noise from fans, traffic, and conversations, not in sound-proof labs</a:t>
            </a:r>
          </a:p>
          <a:p>
            <a:r>
              <a:rPr lang="en-US" sz="1800" dirty="0">
                <a:latin typeface="Times New Roman" panose="02020603050405020304" pitchFamily="18" charset="0"/>
                <a:cs typeface="Times New Roman" panose="02020603050405020304" pitchFamily="18" charset="0"/>
              </a:rPr>
              <a:t>Traditional systems fail in noisy conditions, while commercial cloud-based solutions are expensive, require constant internet connectivity, and use proprietary datasets unsuitable for academic research</a:t>
            </a:r>
          </a:p>
          <a:p>
            <a:r>
              <a:rPr lang="en-US" sz="1800" dirty="0">
                <a:latin typeface="Times New Roman" panose="02020603050405020304" pitchFamily="18" charset="0"/>
                <a:cs typeface="Times New Roman" panose="02020603050405020304" pitchFamily="18" charset="0"/>
              </a:rPr>
              <a:t>There is a gap for practical, deployable solutions that can be trained and run on standard hardware without requiring cloud services or expensive infrastructure</a:t>
            </a:r>
          </a:p>
          <a:p>
            <a:r>
              <a:rPr lang="en-US" sz="1800" dirty="0">
                <a:latin typeface="Times New Roman" panose="02020603050405020304" pitchFamily="18" charset="0"/>
                <a:cs typeface="Times New Roman" panose="02020603050405020304" pitchFamily="18" charset="0"/>
              </a:rPr>
              <a:t>Our problem statement addresses this gap by designing and implementing an automatic speech-to-text system with improved robustness to environmental variations and noise, using a computationally efficient deep-learning based model suitable for CPU-only training environments</a:t>
            </a:r>
            <a:endParaRPr lang="en-US" sz="18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6646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8AFE5FCA-5B4D-5EE2-BE38-B17C89203551}"/>
            </a:ext>
          </a:extLst>
        </p:cNvPr>
        <p:cNvGrpSpPr/>
        <p:nvPr/>
      </p:nvGrpSpPr>
      <p:grpSpPr>
        <a:xfrm>
          <a:off x="0" y="0"/>
          <a:ext cx="0" cy="0"/>
          <a:chOff x="0" y="0"/>
          <a:chExt cx="0" cy="0"/>
        </a:xfrm>
      </p:grpSpPr>
      <p:sp>
        <p:nvSpPr>
          <p:cNvPr id="121" name="Google Shape;121;g134c9dbe47e_0_1">
            <a:extLst>
              <a:ext uri="{FF2B5EF4-FFF2-40B4-BE49-F238E27FC236}">
                <a16:creationId xmlns:a16="http://schemas.microsoft.com/office/drawing/2014/main" id="{293F2623-6A40-D770-6C4F-E03C73EB9070}"/>
              </a:ext>
            </a:extLst>
          </p:cNvPr>
          <p:cNvSpPr txBox="1">
            <a:spLocks noGrp="1"/>
          </p:cNvSpPr>
          <p:nvPr>
            <p:ph type="title"/>
          </p:nvPr>
        </p:nvSpPr>
        <p:spPr>
          <a:xfrm>
            <a:off x="457200" y="635727"/>
            <a:ext cx="8229600" cy="964474"/>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1800"/>
              <a:buNone/>
            </a:pPr>
            <a:r>
              <a:rPr lang="en-US" b="1" u="sng" dirty="0">
                <a:latin typeface="Times New Roman"/>
                <a:ea typeface="Times New Roman"/>
                <a:cs typeface="Times New Roman"/>
                <a:sym typeface="Times New Roman"/>
              </a:rPr>
              <a:t>ABSTRACT</a:t>
            </a:r>
            <a:endParaRPr b="1" u="sng" dirty="0">
              <a:latin typeface="Times New Roman"/>
              <a:ea typeface="Times New Roman"/>
              <a:cs typeface="Times New Roman"/>
              <a:sym typeface="Times New Roman"/>
            </a:endParaRPr>
          </a:p>
        </p:txBody>
      </p:sp>
      <p:sp>
        <p:nvSpPr>
          <p:cNvPr id="122" name="Google Shape;122;g134c9dbe47e_0_1">
            <a:extLst>
              <a:ext uri="{FF2B5EF4-FFF2-40B4-BE49-F238E27FC236}">
                <a16:creationId xmlns:a16="http://schemas.microsoft.com/office/drawing/2014/main" id="{107C609C-4262-6CC9-A252-4086AD1AAD93}"/>
              </a:ext>
            </a:extLst>
          </p:cNvPr>
          <p:cNvSpPr txBox="1">
            <a:spLocks noGrp="1"/>
          </p:cNvSpPr>
          <p:nvPr>
            <p:ph type="body" idx="1"/>
          </p:nvPr>
        </p:nvSpPr>
        <p:spPr>
          <a:xfrm>
            <a:off x="645900" y="1839251"/>
            <a:ext cx="7852200" cy="4386071"/>
          </a:xfrm>
          <a:prstGeom prst="rect">
            <a:avLst/>
          </a:prstGeom>
          <a:noFill/>
          <a:ln>
            <a:noFill/>
          </a:ln>
        </p:spPr>
        <p:txBody>
          <a:bodyPr spcFirstLastPara="1" wrap="square" lIns="91425" tIns="45700" rIns="91425" bIns="45700" anchor="t" anchorCtr="0">
            <a:noAutofit/>
          </a:bodyPr>
          <a:lstStyle/>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proposed approach utilizes Log-Mel Spectrogram features to represent speech signals, effectively capturing perceptually significant spectral characteristics. Convolutional layers extract robust local patterns from spectrograms, while bidirectional LSTM layers learn temporal relationships across speech sequences. The model is trained on a custom dataset comprising approximately 1000 voice samples, with extensive data augmentation through noise injection and </a:t>
            </a:r>
            <a:r>
              <a:rPr lang="en-US" sz="1600" dirty="0" err="1">
                <a:latin typeface="Times New Roman" panose="02020603050405020304" pitchFamily="18" charset="0"/>
                <a:cs typeface="Times New Roman" panose="02020603050405020304" pitchFamily="18" charset="0"/>
              </a:rPr>
              <a:t>SpecAugment</a:t>
            </a:r>
            <a:r>
              <a:rPr lang="en-US" sz="1600" dirty="0">
                <a:latin typeface="Times New Roman" panose="02020603050405020304" pitchFamily="18" charset="0"/>
                <a:cs typeface="Times New Roman" panose="02020603050405020304" pitchFamily="18" charset="0"/>
              </a:rPr>
              <a:t> techniques. Training uses Connectionist Temporal Classification loss, enabling end-to-end learning without explicit alignment between audio frames and text labels.</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Experimental evaluation confirms that the proposed CNN-LSTM framework delivers enhanced transcription performance with improved tolerance to noise compared to conventional baseline models. System effectiveness is assessed using Word Error Rate, Character Error Rate, and recognition accuracy across different noise levels. The results validate that the proposed method achieves a favorable balance between recognition accuracy, noise robustness, and computational efficiency, demonstrating potential for deployment in real-world speech recognition applications</a:t>
            </a:r>
          </a:p>
        </p:txBody>
      </p:sp>
    </p:spTree>
    <p:extLst>
      <p:ext uri="{BB962C8B-B14F-4D97-AF65-F5344CB8AC3E}">
        <p14:creationId xmlns:p14="http://schemas.microsoft.com/office/powerpoint/2010/main" val="2870546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49EA1B86-71C1-D341-06D6-6C1715664913}"/>
            </a:ext>
          </a:extLst>
        </p:cNvPr>
        <p:cNvGrpSpPr/>
        <p:nvPr/>
      </p:nvGrpSpPr>
      <p:grpSpPr>
        <a:xfrm>
          <a:off x="0" y="0"/>
          <a:ext cx="0" cy="0"/>
          <a:chOff x="0" y="0"/>
          <a:chExt cx="0" cy="0"/>
        </a:xfrm>
      </p:grpSpPr>
      <p:sp>
        <p:nvSpPr>
          <p:cNvPr id="121" name="Google Shape;121;g134c9dbe47e_0_1">
            <a:extLst>
              <a:ext uri="{FF2B5EF4-FFF2-40B4-BE49-F238E27FC236}">
                <a16:creationId xmlns:a16="http://schemas.microsoft.com/office/drawing/2014/main" id="{0696277C-1A98-B18C-9C0C-657F2AC298EC}"/>
              </a:ext>
            </a:extLst>
          </p:cNvPr>
          <p:cNvSpPr txBox="1">
            <a:spLocks noGrp="1"/>
          </p:cNvSpPr>
          <p:nvPr>
            <p:ph type="title"/>
          </p:nvPr>
        </p:nvSpPr>
        <p:spPr>
          <a:xfrm>
            <a:off x="457200" y="698325"/>
            <a:ext cx="8229600" cy="82567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1800"/>
              <a:buNone/>
            </a:pPr>
            <a:r>
              <a:rPr lang="en-US" b="1" u="sng" dirty="0">
                <a:latin typeface="Times New Roman"/>
                <a:ea typeface="Times New Roman"/>
                <a:cs typeface="Times New Roman"/>
                <a:sym typeface="Times New Roman"/>
              </a:rPr>
              <a:t>INTRODUCTION</a:t>
            </a:r>
            <a:endParaRPr b="1" u="sng" dirty="0">
              <a:latin typeface="Times New Roman"/>
              <a:ea typeface="Times New Roman"/>
              <a:cs typeface="Times New Roman"/>
              <a:sym typeface="Times New Roman"/>
            </a:endParaRPr>
          </a:p>
        </p:txBody>
      </p:sp>
      <p:sp>
        <p:nvSpPr>
          <p:cNvPr id="122" name="Google Shape;122;g134c9dbe47e_0_1">
            <a:extLst>
              <a:ext uri="{FF2B5EF4-FFF2-40B4-BE49-F238E27FC236}">
                <a16:creationId xmlns:a16="http://schemas.microsoft.com/office/drawing/2014/main" id="{65A39B28-1EE7-77F8-A205-0B44E9D28784}"/>
              </a:ext>
            </a:extLst>
          </p:cNvPr>
          <p:cNvSpPr txBox="1">
            <a:spLocks noGrp="1"/>
          </p:cNvSpPr>
          <p:nvPr>
            <p:ph type="body" idx="1"/>
          </p:nvPr>
        </p:nvSpPr>
        <p:spPr>
          <a:xfrm>
            <a:off x="645900" y="1892808"/>
            <a:ext cx="7852200" cy="4526100"/>
          </a:xfrm>
          <a:prstGeom prst="rect">
            <a:avLst/>
          </a:prstGeom>
          <a:noFill/>
          <a:ln>
            <a:noFill/>
          </a:ln>
        </p:spPr>
        <p:txBody>
          <a:bodyPr spcFirstLastPara="1" wrap="square" lIns="91425" tIns="45700" rIns="91425" bIns="45700" anchor="t" anchorCtr="0">
            <a:noAutofit/>
          </a:bodyPr>
          <a:lstStyle/>
          <a:p>
            <a:r>
              <a:rPr lang="en-US" sz="1600" dirty="0">
                <a:latin typeface="Times New Roman" panose="02020603050405020304" pitchFamily="18" charset="0"/>
                <a:cs typeface="Times New Roman" panose="02020603050405020304" pitchFamily="18" charset="0"/>
              </a:rPr>
              <a:t>Automatic Speech Recognition has evolved from traditional Hidden Markov Model-Gaussian Mixture Model systems to modern deep learning approaches. Traditional systems required extensive manual work including feature engineering, pronunciation dictionaries, and forced alignment, working well only in quiet environments.</a:t>
            </a:r>
          </a:p>
          <a:p>
            <a:r>
              <a:rPr lang="en-US" sz="1600" dirty="0">
                <a:latin typeface="Times New Roman" panose="02020603050405020304" pitchFamily="18" charset="0"/>
                <a:cs typeface="Times New Roman" panose="02020603050405020304" pitchFamily="18" charset="0"/>
              </a:rPr>
              <a:t>Modern deep learning approaches enable end-to-end training without manual alignment, learning optimal feature representations automatically. Our project focuses on improving speech recognition robustness to environmental variations using a hybrid CNN-LSTM architecture.</a:t>
            </a:r>
          </a:p>
          <a:p>
            <a:r>
              <a:rPr lang="en-US" sz="1600" dirty="0">
                <a:latin typeface="Times New Roman" panose="02020603050405020304" pitchFamily="18" charset="0"/>
                <a:cs typeface="Times New Roman" panose="02020603050405020304" pitchFamily="18" charset="0"/>
              </a:rPr>
              <a:t>The system processes raw audio through preprocessing, converts it to Log-Mel Spectrogram features with 80 mel frequency bins, passes through CNN layers for local pattern extraction, processes through bidirectional LSTM layers for temporal modeling, and outputs character probabilities decoded using CTC algorithm. The complete pipeline enables real-time speech recognition on CPU hardware, making it suitable for practical deployment scenarios</a:t>
            </a:r>
            <a:endParaRPr sz="1600" dirty="0">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1184258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g262909b5390_0_6"/>
          <p:cNvSpPr txBox="1">
            <a:spLocks noGrp="1"/>
          </p:cNvSpPr>
          <p:nvPr>
            <p:ph type="title"/>
          </p:nvPr>
        </p:nvSpPr>
        <p:spPr>
          <a:xfrm>
            <a:off x="609600" y="609600"/>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2800"/>
              <a:buFont typeface="Arial"/>
              <a:buNone/>
            </a:pPr>
            <a:r>
              <a:rPr lang="en-US" sz="3200" b="1" u="sng" dirty="0">
                <a:latin typeface="Times New Roman"/>
                <a:ea typeface="Times New Roman"/>
                <a:cs typeface="Times New Roman"/>
                <a:sym typeface="Times New Roman"/>
              </a:rPr>
              <a:t>LITERATURE SURVEY</a:t>
            </a:r>
            <a:endParaRPr sz="3200" dirty="0">
              <a:latin typeface="Times New Roman"/>
              <a:ea typeface="Times New Roman"/>
              <a:cs typeface="Times New Roman"/>
              <a:sym typeface="Times New Roman"/>
            </a:endParaRPr>
          </a:p>
        </p:txBody>
      </p:sp>
      <p:graphicFrame>
        <p:nvGraphicFramePr>
          <p:cNvPr id="115" name="Google Shape;115;g262909b5390_0_6"/>
          <p:cNvGraphicFramePr/>
          <p:nvPr>
            <p:extLst>
              <p:ext uri="{D42A27DB-BD31-4B8C-83A1-F6EECF244321}">
                <p14:modId xmlns:p14="http://schemas.microsoft.com/office/powerpoint/2010/main" val="2008949856"/>
              </p:ext>
            </p:extLst>
          </p:nvPr>
        </p:nvGraphicFramePr>
        <p:xfrm>
          <a:off x="165462" y="1514413"/>
          <a:ext cx="8922767" cy="4834137"/>
        </p:xfrm>
        <a:graphic>
          <a:graphicData uri="http://schemas.openxmlformats.org/drawingml/2006/table">
            <a:tbl>
              <a:tblPr>
                <a:noFill/>
                <a:tableStyleId>{B6949F45-BA8F-4793-B73D-0D9B817494BA}</a:tableStyleId>
              </a:tblPr>
              <a:tblGrid>
                <a:gridCol w="657812">
                  <a:extLst>
                    <a:ext uri="{9D8B030D-6E8A-4147-A177-3AD203B41FA5}">
                      <a16:colId xmlns:a16="http://schemas.microsoft.com/office/drawing/2014/main" val="388560378"/>
                    </a:ext>
                  </a:extLst>
                </a:gridCol>
                <a:gridCol w="1444807">
                  <a:extLst>
                    <a:ext uri="{9D8B030D-6E8A-4147-A177-3AD203B41FA5}">
                      <a16:colId xmlns:a16="http://schemas.microsoft.com/office/drawing/2014/main" val="20000"/>
                    </a:ext>
                  </a:extLst>
                </a:gridCol>
                <a:gridCol w="1262029">
                  <a:extLst>
                    <a:ext uri="{9D8B030D-6E8A-4147-A177-3AD203B41FA5}">
                      <a16:colId xmlns:a16="http://schemas.microsoft.com/office/drawing/2014/main" val="20001"/>
                    </a:ext>
                  </a:extLst>
                </a:gridCol>
                <a:gridCol w="1592769">
                  <a:extLst>
                    <a:ext uri="{9D8B030D-6E8A-4147-A177-3AD203B41FA5}">
                      <a16:colId xmlns:a16="http://schemas.microsoft.com/office/drawing/2014/main" val="3421748048"/>
                    </a:ext>
                  </a:extLst>
                </a:gridCol>
                <a:gridCol w="1853879">
                  <a:extLst>
                    <a:ext uri="{9D8B030D-6E8A-4147-A177-3AD203B41FA5}">
                      <a16:colId xmlns:a16="http://schemas.microsoft.com/office/drawing/2014/main" val="2817869879"/>
                    </a:ext>
                  </a:extLst>
                </a:gridCol>
                <a:gridCol w="2111471">
                  <a:extLst>
                    <a:ext uri="{9D8B030D-6E8A-4147-A177-3AD203B41FA5}">
                      <a16:colId xmlns:a16="http://schemas.microsoft.com/office/drawing/2014/main" val="20002"/>
                    </a:ext>
                  </a:extLst>
                </a:gridCol>
              </a:tblGrid>
              <a:tr h="1154155">
                <a:tc>
                  <a:txBody>
                    <a:bodyPr/>
                    <a:lstStyle/>
                    <a:p>
                      <a:pPr marL="0" lvl="0" indent="0" algn="l" rtl="0">
                        <a:lnSpc>
                          <a:spcPct val="115000"/>
                        </a:lnSpc>
                        <a:spcBef>
                          <a:spcPts val="0"/>
                        </a:spcBef>
                        <a:spcAft>
                          <a:spcPts val="0"/>
                        </a:spcAft>
                        <a:buNone/>
                      </a:pPr>
                      <a:r>
                        <a:rPr lang="en-US" sz="1400" b="1" dirty="0" err="1">
                          <a:solidFill>
                            <a:srgbClr val="FFFFFF"/>
                          </a:solidFill>
                          <a:highlight>
                            <a:srgbClr val="000000"/>
                          </a:highlight>
                          <a:latin typeface="Times New Roman" panose="02020603050405020304" pitchFamily="18" charset="0"/>
                          <a:ea typeface="Times New Roman"/>
                          <a:cs typeface="Times New Roman" panose="02020603050405020304" pitchFamily="18" charset="0"/>
                          <a:sym typeface="Times New Roman"/>
                        </a:rPr>
                        <a:t>S.No</a:t>
                      </a:r>
                      <a:endParaRPr sz="1400" b="1" dirty="0">
                        <a:solidFill>
                          <a:srgbClr val="FFFFFF"/>
                        </a:solidFill>
                        <a:highlight>
                          <a:srgbClr val="000000"/>
                        </a:highlight>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US" sz="1400" b="1" dirty="0">
                          <a:solidFill>
                            <a:srgbClr val="FFFFFF"/>
                          </a:solidFill>
                          <a:highlight>
                            <a:schemeClr val="dk1"/>
                          </a:highlight>
                          <a:latin typeface="Times New Roman" panose="02020603050405020304" pitchFamily="18" charset="0"/>
                          <a:ea typeface="Times New Roman"/>
                          <a:cs typeface="Times New Roman" panose="02020603050405020304" pitchFamily="18" charset="0"/>
                          <a:sym typeface="Times New Roman"/>
                        </a:rPr>
                        <a:t>Paper title</a:t>
                      </a:r>
                      <a:endParaRPr sz="1400" b="1" dirty="0">
                        <a:solidFill>
                          <a:srgbClr val="FFFFFF"/>
                        </a:solidFill>
                        <a:highlight>
                          <a:srgbClr val="000000"/>
                        </a:highlight>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US" sz="1400" b="1" dirty="0">
                          <a:solidFill>
                            <a:srgbClr val="FFFFFF"/>
                          </a:solidFill>
                          <a:highlight>
                            <a:srgbClr val="0F0F0F"/>
                          </a:highlight>
                          <a:latin typeface="Times New Roman" panose="02020603050405020304" pitchFamily="18" charset="0"/>
                          <a:ea typeface="Calibri"/>
                          <a:cs typeface="Times New Roman" panose="02020603050405020304" pitchFamily="18" charset="0"/>
                          <a:sym typeface="Calibri"/>
                        </a:rPr>
                        <a:t>Year of Publication</a:t>
                      </a:r>
                      <a:endParaRPr sz="1400" b="1" dirty="0">
                        <a:solidFill>
                          <a:srgbClr val="FFFFFF"/>
                        </a:solidFill>
                        <a:highlight>
                          <a:srgbClr val="0F0F0F"/>
                        </a:highlight>
                        <a:latin typeface="Times New Roman" panose="02020603050405020304" pitchFamily="18" charset="0"/>
                        <a:ea typeface="Calibri"/>
                        <a:cs typeface="Times New Roman" panose="02020603050405020304" pitchFamily="18" charset="0"/>
                        <a:sym typeface="Calibri"/>
                      </a:endParaRPr>
                    </a:p>
                  </a:txBody>
                  <a:tcPr marL="91425" marR="91425" marT="91425" marB="91425">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lang="en-US" sz="1400" b="1" dirty="0">
                          <a:solidFill>
                            <a:srgbClr val="FFFFFF"/>
                          </a:solidFill>
                          <a:highlight>
                            <a:srgbClr val="0F0F0F"/>
                          </a:highlight>
                          <a:latin typeface="Times New Roman" panose="02020603050405020304" pitchFamily="18" charset="0"/>
                          <a:ea typeface="Calibri"/>
                          <a:cs typeface="Times New Roman" panose="02020603050405020304" pitchFamily="18" charset="0"/>
                          <a:sym typeface="Calibri"/>
                        </a:rPr>
                        <a:t>Methodology used</a:t>
                      </a:r>
                    </a:p>
                    <a:p>
                      <a:pPr marL="0" lvl="0" indent="0" algn="l" rtl="0">
                        <a:lnSpc>
                          <a:spcPct val="115000"/>
                        </a:lnSpc>
                        <a:spcBef>
                          <a:spcPts val="0"/>
                        </a:spcBef>
                        <a:spcAft>
                          <a:spcPts val="0"/>
                        </a:spcAft>
                        <a:buNone/>
                      </a:pPr>
                      <a:endParaRPr sz="1400" b="1" dirty="0">
                        <a:solidFill>
                          <a:srgbClr val="FFFFFF"/>
                        </a:solidFill>
                        <a:highlight>
                          <a:srgbClr val="0F0F0F"/>
                        </a:highlight>
                        <a:latin typeface="Times New Roman" panose="02020603050405020304" pitchFamily="18" charset="0"/>
                        <a:ea typeface="Calibri"/>
                        <a:cs typeface="Times New Roman" panose="02020603050405020304" pitchFamily="18" charset="0"/>
                        <a:sym typeface="Calibri"/>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400" b="1" dirty="0">
                          <a:solidFill>
                            <a:srgbClr val="FFFFFF"/>
                          </a:solidFill>
                          <a:highlight>
                            <a:srgbClr val="0F0F0F"/>
                          </a:highlight>
                          <a:latin typeface="Times New Roman" panose="02020603050405020304" pitchFamily="18" charset="0"/>
                          <a:ea typeface="Calibri"/>
                          <a:cs typeface="Times New Roman" panose="02020603050405020304" pitchFamily="18" charset="0"/>
                          <a:sym typeface="Calibri"/>
                        </a:rPr>
                        <a:t>Advantage</a:t>
                      </a:r>
                      <a:endParaRPr sz="1400" b="1" dirty="0">
                        <a:solidFill>
                          <a:srgbClr val="FFFFFF"/>
                        </a:solidFill>
                        <a:highlight>
                          <a:srgbClr val="0F0F0F"/>
                        </a:highlight>
                        <a:latin typeface="Times New Roman" panose="02020603050405020304" pitchFamily="18" charset="0"/>
                        <a:ea typeface="Calibri"/>
                        <a:cs typeface="Times New Roman" panose="02020603050405020304" pitchFamily="18" charset="0"/>
                        <a:sym typeface="Calibri"/>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400" b="1" dirty="0">
                          <a:solidFill>
                            <a:srgbClr val="FFFFFF"/>
                          </a:solidFill>
                          <a:highlight>
                            <a:schemeClr val="dk1"/>
                          </a:highlight>
                          <a:latin typeface="Times New Roman" panose="02020603050405020304" pitchFamily="18" charset="0"/>
                          <a:ea typeface="Calibri"/>
                          <a:cs typeface="Times New Roman" panose="02020603050405020304" pitchFamily="18" charset="0"/>
                          <a:sym typeface="Calibri"/>
                        </a:rPr>
                        <a:t>Disadvantage</a:t>
                      </a:r>
                      <a:endParaRPr sz="1400" b="1" dirty="0">
                        <a:solidFill>
                          <a:srgbClr val="FFFFFF"/>
                        </a:solidFill>
                        <a:highlight>
                          <a:schemeClr val="dk1"/>
                        </a:highlight>
                        <a:latin typeface="Times New Roman" panose="02020603050405020304" pitchFamily="18" charset="0"/>
                        <a:ea typeface="Calibri"/>
                        <a:cs typeface="Times New Roman" panose="02020603050405020304" pitchFamily="18" charset="0"/>
                        <a:sym typeface="Calibri"/>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263282">
                <a:tc>
                  <a:txBody>
                    <a:bodyPr/>
                    <a:lstStyle/>
                    <a:p>
                      <a:pPr marL="0" lvl="0" indent="0" algn="l" rtl="0">
                        <a:lnSpc>
                          <a:spcPct val="120000"/>
                        </a:lnSpc>
                        <a:spcBef>
                          <a:spcPts val="0"/>
                        </a:spcBef>
                        <a:spcAft>
                          <a:spcPts val="0"/>
                        </a:spcAft>
                        <a:buNone/>
                      </a:pPr>
                      <a:r>
                        <a:rPr lang="en-US" sz="1400" dirty="0">
                          <a:solidFill>
                            <a:srgbClr val="333333"/>
                          </a:solidFill>
                          <a:highlight>
                            <a:srgbClr val="FCFCFC"/>
                          </a:highlight>
                          <a:latin typeface="Times New Roman" panose="02020603050405020304" pitchFamily="18" charset="0"/>
                          <a:ea typeface="Times New Roman"/>
                          <a:cs typeface="Times New Roman" panose="02020603050405020304" pitchFamily="18" charset="0"/>
                          <a:sym typeface="Times New Roman"/>
                        </a:rPr>
                        <a:t>1</a:t>
                      </a:r>
                      <a:endParaRPr sz="1400" dirty="0">
                        <a:solidFill>
                          <a:srgbClr val="333333"/>
                        </a:solidFill>
                        <a:highlight>
                          <a:srgbClr val="FCFCFC"/>
                        </a:highlight>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pPr marL="0" lvl="0" indent="0" algn="l" rtl="0">
                        <a:lnSpc>
                          <a:spcPct val="120000"/>
                        </a:lnSpc>
                        <a:spcBef>
                          <a:spcPts val="0"/>
                        </a:spcBef>
                        <a:spcAft>
                          <a:spcPts val="0"/>
                        </a:spcAft>
                        <a:buNone/>
                      </a:pPr>
                      <a:endParaRPr sz="1400" dirty="0">
                        <a:solidFill>
                          <a:srgbClr val="333333"/>
                        </a:solidFill>
                        <a:highlight>
                          <a:srgbClr val="FCFCFC"/>
                        </a:highlight>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400" dirty="0">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400" dirty="0">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400" dirty="0">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400" dirty="0">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263282">
                <a:tc>
                  <a:txBody>
                    <a:bodyPr/>
                    <a:lstStyle/>
                    <a:p>
                      <a:pPr marL="0" lvl="0" indent="0" algn="l" rtl="0">
                        <a:spcBef>
                          <a:spcPts val="0"/>
                        </a:spcBef>
                        <a:spcAft>
                          <a:spcPts val="0"/>
                        </a:spcAft>
                        <a:buNone/>
                      </a:pPr>
                      <a:r>
                        <a:rPr lang="en-US" sz="1400" dirty="0">
                          <a:latin typeface="Times New Roman" panose="02020603050405020304" pitchFamily="18" charset="0"/>
                          <a:ea typeface="Times New Roman"/>
                          <a:cs typeface="Times New Roman" panose="02020603050405020304" pitchFamily="18" charset="0"/>
                          <a:sym typeface="Times New Roman"/>
                        </a:rPr>
                        <a:t>2</a:t>
                      </a:r>
                      <a:endParaRPr sz="1400" dirty="0">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lang="en-US" sz="14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4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4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4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400" dirty="0">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153418">
                <a:tc>
                  <a:txBody>
                    <a:bodyPr/>
                    <a:lstStyle/>
                    <a:p>
                      <a:pPr marL="0" lvl="0" indent="0" algn="l" rtl="0">
                        <a:spcBef>
                          <a:spcPts val="0"/>
                        </a:spcBef>
                        <a:spcAft>
                          <a:spcPts val="0"/>
                        </a:spcAft>
                        <a:buNone/>
                      </a:pPr>
                      <a:r>
                        <a:rPr lang="en-US" sz="1400" dirty="0">
                          <a:latin typeface="Times New Roman" panose="02020603050405020304" pitchFamily="18" charset="0"/>
                          <a:ea typeface="Times New Roman"/>
                          <a:cs typeface="Times New Roman" panose="02020603050405020304" pitchFamily="18" charset="0"/>
                          <a:sym typeface="Times New Roman"/>
                        </a:rPr>
                        <a:t>3</a:t>
                      </a:r>
                      <a:endParaRPr sz="1400" dirty="0">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endParaRPr lang="en-US" sz="1400" dirty="0">
                        <a:latin typeface="Times New Roman" panose="02020603050405020304" pitchFamily="18" charset="0"/>
                        <a:cs typeface="Times New Roman" panose="02020603050405020304" pitchFamily="18" charset="0"/>
                      </a:endParaRPr>
                    </a:p>
                  </a:txBody>
                  <a:tcPr>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4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4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4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400" dirty="0">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972893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g262909b5390_0_6"/>
          <p:cNvSpPr txBox="1">
            <a:spLocks noGrp="1"/>
          </p:cNvSpPr>
          <p:nvPr>
            <p:ph type="title"/>
          </p:nvPr>
        </p:nvSpPr>
        <p:spPr>
          <a:xfrm>
            <a:off x="609600" y="609600"/>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2800"/>
              <a:buFont typeface="Arial"/>
              <a:buNone/>
            </a:pPr>
            <a:r>
              <a:rPr lang="en-US" sz="3200" b="1" u="sng">
                <a:latin typeface="Times New Roman"/>
                <a:ea typeface="Times New Roman"/>
                <a:cs typeface="Times New Roman"/>
                <a:sym typeface="Times New Roman"/>
              </a:rPr>
              <a:t>LITERATURE SURVEY</a:t>
            </a:r>
            <a:endParaRPr sz="3200">
              <a:latin typeface="Times New Roman"/>
              <a:ea typeface="Times New Roman"/>
              <a:cs typeface="Times New Roman"/>
              <a:sym typeface="Times New Roman"/>
            </a:endParaRPr>
          </a:p>
        </p:txBody>
      </p:sp>
      <p:graphicFrame>
        <p:nvGraphicFramePr>
          <p:cNvPr id="115" name="Google Shape;115;g262909b5390_0_6"/>
          <p:cNvGraphicFramePr/>
          <p:nvPr>
            <p:extLst>
              <p:ext uri="{D42A27DB-BD31-4B8C-83A1-F6EECF244321}">
                <p14:modId xmlns:p14="http://schemas.microsoft.com/office/powerpoint/2010/main" val="4153171470"/>
              </p:ext>
            </p:extLst>
          </p:nvPr>
        </p:nvGraphicFramePr>
        <p:xfrm>
          <a:off x="160422" y="1514413"/>
          <a:ext cx="8927808" cy="4538044"/>
        </p:xfrm>
        <a:graphic>
          <a:graphicData uri="http://schemas.openxmlformats.org/drawingml/2006/table">
            <a:tbl>
              <a:tblPr>
                <a:noFill/>
                <a:tableStyleId>{B6949F45-BA8F-4793-B73D-0D9B817494BA}</a:tableStyleId>
              </a:tblPr>
              <a:tblGrid>
                <a:gridCol w="693018">
                  <a:extLst>
                    <a:ext uri="{9D8B030D-6E8A-4147-A177-3AD203B41FA5}">
                      <a16:colId xmlns:a16="http://schemas.microsoft.com/office/drawing/2014/main" val="388560378"/>
                    </a:ext>
                  </a:extLst>
                </a:gridCol>
                <a:gridCol w="1502940">
                  <a:extLst>
                    <a:ext uri="{9D8B030D-6E8A-4147-A177-3AD203B41FA5}">
                      <a16:colId xmlns:a16="http://schemas.microsoft.com/office/drawing/2014/main" val="20000"/>
                    </a:ext>
                  </a:extLst>
                </a:gridCol>
                <a:gridCol w="932252">
                  <a:extLst>
                    <a:ext uri="{9D8B030D-6E8A-4147-A177-3AD203B41FA5}">
                      <a16:colId xmlns:a16="http://schemas.microsoft.com/office/drawing/2014/main" val="20001"/>
                    </a:ext>
                  </a:extLst>
                </a:gridCol>
                <a:gridCol w="1652221">
                  <a:extLst>
                    <a:ext uri="{9D8B030D-6E8A-4147-A177-3AD203B41FA5}">
                      <a16:colId xmlns:a16="http://schemas.microsoft.com/office/drawing/2014/main" val="3421748048"/>
                    </a:ext>
                  </a:extLst>
                </a:gridCol>
                <a:gridCol w="1739874">
                  <a:extLst>
                    <a:ext uri="{9D8B030D-6E8A-4147-A177-3AD203B41FA5}">
                      <a16:colId xmlns:a16="http://schemas.microsoft.com/office/drawing/2014/main" val="2817869879"/>
                    </a:ext>
                  </a:extLst>
                </a:gridCol>
                <a:gridCol w="2407503">
                  <a:extLst>
                    <a:ext uri="{9D8B030D-6E8A-4147-A177-3AD203B41FA5}">
                      <a16:colId xmlns:a16="http://schemas.microsoft.com/office/drawing/2014/main" val="20002"/>
                    </a:ext>
                  </a:extLst>
                </a:gridCol>
              </a:tblGrid>
              <a:tr h="1215206">
                <a:tc>
                  <a:txBody>
                    <a:bodyPr/>
                    <a:lstStyle/>
                    <a:p>
                      <a:r>
                        <a:rPr lang="en-US" sz="1600" dirty="0">
                          <a:latin typeface="Times New Roman" panose="02020603050405020304" pitchFamily="18" charset="0"/>
                          <a:cs typeface="Times New Roman" panose="02020603050405020304" pitchFamily="18" charset="0"/>
                        </a:rPr>
                        <a:t>4</a:t>
                      </a:r>
                    </a:p>
                  </a:txBody>
                  <a:tcPr marL="91425" marR="91425" marT="91425" marB="91425">
                    <a:lnL w="19050" cap="flat" cmpd="sng">
                      <a:solidFill>
                        <a:schemeClr val="dk1"/>
                      </a:solidFill>
                      <a:prstDash val="solid"/>
                      <a:round/>
                      <a:headEnd type="none" w="sm" len="sm"/>
                      <a:tailEnd type="none" w="sm" len="sm"/>
                    </a:lnL>
                    <a:lnR w="19050" cap="flat" cmpd="sng" algn="ctr">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solidFill>
                      <a:schemeClr val="lt1"/>
                    </a:solidFill>
                  </a:tcPr>
                </a:tc>
                <a:tc>
                  <a:txBody>
                    <a:bodyPr/>
                    <a:lstStyle/>
                    <a:p>
                      <a:endParaRPr lang="en-US" sz="1600" dirty="0">
                        <a:latin typeface="Times New Roman" panose="02020603050405020304" pitchFamily="18" charset="0"/>
                        <a:cs typeface="Times New Roman" panose="02020603050405020304" pitchFamily="18" charset="0"/>
                      </a:endParaRPr>
                    </a:p>
                  </a:txBody>
                  <a:tcPr>
                    <a:lnL w="19050" cap="flat" cmpd="sng" algn="ctr">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948316">
                <a:tc>
                  <a:txBody>
                    <a:bodyPr/>
                    <a:lstStyle/>
                    <a:p>
                      <a:r>
                        <a:rPr lang="en-US" sz="1600" dirty="0">
                          <a:latin typeface="Times New Roman" panose="02020603050405020304" pitchFamily="18" charset="0"/>
                          <a:cs typeface="Times New Roman" panose="02020603050405020304" pitchFamily="18" charset="0"/>
                        </a:rPr>
                        <a:t>5</a:t>
                      </a: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187261">
                <a:tc>
                  <a:txBody>
                    <a:bodyPr/>
                    <a:lstStyle/>
                    <a:p>
                      <a:r>
                        <a:rPr lang="en-US" sz="1600" dirty="0">
                          <a:latin typeface="Times New Roman" panose="02020603050405020304" pitchFamily="18" charset="0"/>
                          <a:cs typeface="Times New Roman" panose="02020603050405020304" pitchFamily="18" charset="0"/>
                        </a:rPr>
                        <a:t>6</a:t>
                      </a: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187261">
                <a:tc>
                  <a:txBody>
                    <a:bodyPr/>
                    <a:lstStyle/>
                    <a:p>
                      <a:r>
                        <a:rPr lang="en-US" sz="1600" dirty="0">
                          <a:latin typeface="Times New Roman" panose="02020603050405020304" pitchFamily="18" charset="0"/>
                          <a:cs typeface="Times New Roman" panose="02020603050405020304" pitchFamily="18" charset="0"/>
                        </a:rPr>
                        <a:t>7</a:t>
                      </a: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10331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g262909b5390_0_6"/>
          <p:cNvSpPr txBox="1">
            <a:spLocks noGrp="1"/>
          </p:cNvSpPr>
          <p:nvPr>
            <p:ph type="title"/>
          </p:nvPr>
        </p:nvSpPr>
        <p:spPr>
          <a:xfrm>
            <a:off x="609600" y="609600"/>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2800"/>
              <a:buFont typeface="Arial"/>
              <a:buNone/>
            </a:pPr>
            <a:r>
              <a:rPr lang="en-US" sz="3200" b="1" u="sng">
                <a:latin typeface="Times New Roman"/>
                <a:ea typeface="Times New Roman"/>
                <a:cs typeface="Times New Roman"/>
                <a:sym typeface="Times New Roman"/>
              </a:rPr>
              <a:t>LITERATURE SURVEY</a:t>
            </a:r>
            <a:endParaRPr sz="3200">
              <a:latin typeface="Times New Roman"/>
              <a:ea typeface="Times New Roman"/>
              <a:cs typeface="Times New Roman"/>
              <a:sym typeface="Times New Roman"/>
            </a:endParaRPr>
          </a:p>
        </p:txBody>
      </p:sp>
      <p:graphicFrame>
        <p:nvGraphicFramePr>
          <p:cNvPr id="115" name="Google Shape;115;g262909b5390_0_6"/>
          <p:cNvGraphicFramePr/>
          <p:nvPr>
            <p:extLst>
              <p:ext uri="{D42A27DB-BD31-4B8C-83A1-F6EECF244321}">
                <p14:modId xmlns:p14="http://schemas.microsoft.com/office/powerpoint/2010/main" val="821392218"/>
              </p:ext>
            </p:extLst>
          </p:nvPr>
        </p:nvGraphicFramePr>
        <p:xfrm>
          <a:off x="160422" y="1550127"/>
          <a:ext cx="8927808" cy="4293323"/>
        </p:xfrm>
        <a:graphic>
          <a:graphicData uri="http://schemas.openxmlformats.org/drawingml/2006/table">
            <a:tbl>
              <a:tblPr>
                <a:noFill/>
                <a:tableStyleId>{B6949F45-BA8F-4793-B73D-0D9B817494BA}</a:tableStyleId>
              </a:tblPr>
              <a:tblGrid>
                <a:gridCol w="692571">
                  <a:extLst>
                    <a:ext uri="{9D8B030D-6E8A-4147-A177-3AD203B41FA5}">
                      <a16:colId xmlns:a16="http://schemas.microsoft.com/office/drawing/2014/main" val="388560378"/>
                    </a:ext>
                  </a:extLst>
                </a:gridCol>
                <a:gridCol w="1503387">
                  <a:extLst>
                    <a:ext uri="{9D8B030D-6E8A-4147-A177-3AD203B41FA5}">
                      <a16:colId xmlns:a16="http://schemas.microsoft.com/office/drawing/2014/main" val="20000"/>
                    </a:ext>
                  </a:extLst>
                </a:gridCol>
                <a:gridCol w="932252">
                  <a:extLst>
                    <a:ext uri="{9D8B030D-6E8A-4147-A177-3AD203B41FA5}">
                      <a16:colId xmlns:a16="http://schemas.microsoft.com/office/drawing/2014/main" val="20001"/>
                    </a:ext>
                  </a:extLst>
                </a:gridCol>
                <a:gridCol w="1652221">
                  <a:extLst>
                    <a:ext uri="{9D8B030D-6E8A-4147-A177-3AD203B41FA5}">
                      <a16:colId xmlns:a16="http://schemas.microsoft.com/office/drawing/2014/main" val="3421748048"/>
                    </a:ext>
                  </a:extLst>
                </a:gridCol>
                <a:gridCol w="1739874">
                  <a:extLst>
                    <a:ext uri="{9D8B030D-6E8A-4147-A177-3AD203B41FA5}">
                      <a16:colId xmlns:a16="http://schemas.microsoft.com/office/drawing/2014/main" val="2817869879"/>
                    </a:ext>
                  </a:extLst>
                </a:gridCol>
                <a:gridCol w="2407503">
                  <a:extLst>
                    <a:ext uri="{9D8B030D-6E8A-4147-A177-3AD203B41FA5}">
                      <a16:colId xmlns:a16="http://schemas.microsoft.com/office/drawing/2014/main" val="20002"/>
                    </a:ext>
                  </a:extLst>
                </a:gridCol>
              </a:tblGrid>
              <a:tr h="1124362">
                <a:tc>
                  <a:txBody>
                    <a:bodyPr/>
                    <a:lstStyle/>
                    <a:p>
                      <a:r>
                        <a:rPr lang="en-US" sz="1600" dirty="0">
                          <a:latin typeface="Times New Roman" panose="02020603050405020304" pitchFamily="18" charset="0"/>
                          <a:cs typeface="Times New Roman" panose="02020603050405020304" pitchFamily="18" charset="0"/>
                        </a:rPr>
                        <a:t>1</a:t>
                      </a: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solidFill>
                      <a:schemeClr val="lt1"/>
                    </a:solidFill>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904401">
                <a:tc>
                  <a:txBody>
                    <a:bodyPr/>
                    <a:lstStyle/>
                    <a:p>
                      <a:r>
                        <a:rPr lang="en-US" sz="1600" dirty="0">
                          <a:latin typeface="Times New Roman" panose="02020603050405020304" pitchFamily="18" charset="0"/>
                          <a:cs typeface="Times New Roman" panose="02020603050405020304" pitchFamily="18" charset="0"/>
                        </a:rPr>
                        <a:t>2</a:t>
                      </a: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132280">
                <a:tc>
                  <a:txBody>
                    <a:bodyPr/>
                    <a:lstStyle/>
                    <a:p>
                      <a:r>
                        <a:rPr lang="en-US" sz="1600" dirty="0">
                          <a:latin typeface="Times New Roman" panose="02020603050405020304" pitchFamily="18" charset="0"/>
                          <a:cs typeface="Times New Roman" panose="02020603050405020304" pitchFamily="18" charset="0"/>
                        </a:rPr>
                        <a:t>3</a:t>
                      </a: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indent="0">
                        <a:buFont typeface="+mj-lt"/>
                        <a:buNone/>
                      </a:pPr>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132280">
                <a:tc>
                  <a:txBody>
                    <a:bodyPr/>
                    <a:lstStyle/>
                    <a:p>
                      <a:r>
                        <a:rPr lang="en-US" sz="1600" dirty="0">
                          <a:latin typeface="Times New Roman" panose="02020603050405020304" pitchFamily="18" charset="0"/>
                          <a:cs typeface="Times New Roman" panose="02020603050405020304" pitchFamily="18" charset="0"/>
                        </a:rPr>
                        <a:t>4</a:t>
                      </a: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endParaRPr lang="en-US" sz="1600" dirty="0">
                        <a:latin typeface="Times New Roman" panose="02020603050405020304" pitchFamily="18" charset="0"/>
                        <a:cs typeface="Times New Roman" panose="02020603050405020304" pitchFamily="18" charset="0"/>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54298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40526"/>
            <a:ext cx="8229600" cy="477112"/>
          </a:xfrm>
        </p:spPr>
        <p:txBody>
          <a:bodyPr>
            <a:normAutofit fontScale="90000"/>
          </a:bodyPr>
          <a:lstStyle/>
          <a:p>
            <a:r>
              <a:rPr lang="en-US" sz="3200" b="1" u="sng" dirty="0">
                <a:latin typeface="Times New Roman"/>
                <a:ea typeface="Times New Roman"/>
                <a:cs typeface="Times New Roman"/>
                <a:sym typeface="Times New Roman"/>
              </a:rPr>
              <a:t> PROPOSED METHODOLOGY</a:t>
            </a:r>
            <a:endParaRPr lang="en-US" sz="3200" dirty="0"/>
          </a:p>
        </p:txBody>
      </p:sp>
      <p:sp>
        <p:nvSpPr>
          <p:cNvPr id="3" name="Text Placeholder 2"/>
          <p:cNvSpPr>
            <a:spLocks noGrp="1"/>
          </p:cNvSpPr>
          <p:nvPr>
            <p:ph type="body" idx="1"/>
          </p:nvPr>
        </p:nvSpPr>
        <p:spPr/>
        <p:txBody>
          <a:bodyPr>
            <a:normAutofit lnSpcReduction="10000"/>
          </a:bodyPr>
          <a:lstStyle/>
          <a:p>
            <a:r>
              <a:rPr lang="en-US" sz="1800" b="1" dirty="0">
                <a:latin typeface="Times New Roman" panose="02020603050405020304" pitchFamily="18" charset="0"/>
                <a:cs typeface="Times New Roman" panose="02020603050405020304" pitchFamily="18" charset="0"/>
              </a:rPr>
              <a:t>Dataset and Data Pipeline: </a:t>
            </a:r>
            <a:r>
              <a:rPr lang="en-US" sz="1800" dirty="0">
                <a:latin typeface="Times New Roman" panose="02020603050405020304" pitchFamily="18" charset="0"/>
                <a:cs typeface="Times New Roman" panose="02020603050405020304" pitchFamily="18" charset="0"/>
              </a:rPr>
              <a:t>Our system uses a custom dataset comprising approximately 1000 voice samples stored in the data/raw directory, referenced through CSV manifest files in data/manifests containing audio paths and corresponding text transcripts. The dataset.py module loads these files and preprocesses audio by resampling to 16 kHz, converting stereo to mono, removing silence, and normalizing amplitude.</a:t>
            </a:r>
          </a:p>
          <a:p>
            <a:r>
              <a:rPr lang="en-US" sz="1800" b="1" dirty="0">
                <a:latin typeface="Times New Roman" panose="02020603050405020304" pitchFamily="18" charset="0"/>
                <a:cs typeface="Times New Roman" panose="02020603050405020304" pitchFamily="18" charset="0"/>
              </a:rPr>
              <a:t>Feature Extraction: </a:t>
            </a:r>
            <a:r>
              <a:rPr lang="en-US" sz="1800" dirty="0">
                <a:latin typeface="Times New Roman" panose="02020603050405020304" pitchFamily="18" charset="0"/>
                <a:cs typeface="Times New Roman" panose="02020603050405020304" pitchFamily="18" charset="0"/>
              </a:rPr>
              <a:t>The features.py module extracts Log-Mel Spectrogram features using 80 mel bins with window size of 400 samples and frame shift of 160 samples. These features effectively capture perceptually significant spectral characteristics of speech signals.</a:t>
            </a:r>
          </a:p>
          <a:p>
            <a:r>
              <a:rPr lang="en-US" sz="1800" b="1" dirty="0">
                <a:latin typeface="Times New Roman" panose="02020603050405020304" pitchFamily="18" charset="0"/>
                <a:cs typeface="Times New Roman" panose="02020603050405020304" pitchFamily="18" charset="0"/>
              </a:rPr>
              <a:t>Model Architecture and Pipeline: </a:t>
            </a:r>
            <a:r>
              <a:rPr lang="en-US" sz="1800" dirty="0">
                <a:latin typeface="Times New Roman" panose="02020603050405020304" pitchFamily="18" charset="0"/>
                <a:cs typeface="Times New Roman" panose="02020603050405020304" pitchFamily="18" charset="0"/>
              </a:rPr>
              <a:t>The features are passed through our CNN-LSTM model implemented in model.py, consisting of a CNN encoder with two convolutional layers of 64 filters each, followed by bidirectional LSTM layers with 256 hidden units, and a linear projection layer. The model outputs character probabilities decoded using CTC algorithm in decode.py. The entire system is trained using train.py, evaluated using evaluate.py, with results visualized through plots.py and deployed via web interface in web/app.py.</a:t>
            </a:r>
          </a:p>
        </p:txBody>
      </p:sp>
    </p:spTree>
    <p:extLst>
      <p:ext uri="{BB962C8B-B14F-4D97-AF65-F5344CB8AC3E}">
        <p14:creationId xmlns:p14="http://schemas.microsoft.com/office/powerpoint/2010/main" val="2427055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40526"/>
            <a:ext cx="8229600" cy="477112"/>
          </a:xfrm>
        </p:spPr>
        <p:txBody>
          <a:bodyPr>
            <a:normAutofit fontScale="90000"/>
          </a:bodyPr>
          <a:lstStyle/>
          <a:p>
            <a:r>
              <a:rPr lang="en-US" sz="3200" b="1" u="sng" dirty="0">
                <a:latin typeface="Times New Roman"/>
                <a:ea typeface="Times New Roman"/>
                <a:cs typeface="Times New Roman"/>
                <a:sym typeface="Times New Roman"/>
              </a:rPr>
              <a:t> PROPOSED METHODOLOGY</a:t>
            </a:r>
            <a:endParaRPr lang="en-US" sz="3200" dirty="0"/>
          </a:p>
        </p:txBody>
      </p:sp>
      <p:sp>
        <p:nvSpPr>
          <p:cNvPr id="3" name="Text Placeholder 2"/>
          <p:cNvSpPr>
            <a:spLocks noGrp="1"/>
          </p:cNvSpPr>
          <p:nvPr>
            <p:ph type="body" idx="1"/>
          </p:nvPr>
        </p:nvSpPr>
        <p:spPr>
          <a:xfrm>
            <a:off x="457200" y="1600200"/>
            <a:ext cx="8229600" cy="4995672"/>
          </a:xfrm>
        </p:spPr>
        <p:txBody>
          <a:bodyPr>
            <a:noAutofit/>
          </a:bodyPr>
          <a:lstStyle/>
          <a:p>
            <a:r>
              <a:rPr lang="en-US" sz="1600" b="1" dirty="0"/>
              <a:t>Preprocessing and CNN Encoder: </a:t>
            </a:r>
            <a:r>
              <a:rPr lang="en-US" sz="1600" dirty="0"/>
              <a:t>Raw audio input is preprocessed by resampling to 16 kHz, converting stereo to mono, removing silence, and normalizing amplitude. The preprocessed audio is converted to Log-Mel Spectrogram features with 80 mel bins. The CNN encoder processes spectrograms through two convolutional layers with 64 filters each of size 3×3, using padding=1 to preserve temporal resolution. Each filter learns to recognize different patterns like formants for vowel sounds, energy bursts for consonants, and spectral transitions. The CNN output is reshaped from image format to sequence format for LSTM processing.</a:t>
            </a:r>
          </a:p>
          <a:p>
            <a:r>
              <a:rPr lang="en-US" sz="1600" b="1" dirty="0"/>
              <a:t>Bidirectional LSTM and Output Layer: </a:t>
            </a:r>
            <a:r>
              <a:rPr lang="en-US" sz="1600" dirty="0"/>
              <a:t>The bidirectional LSTM processes this sequence through time, learning how CNN features connect to form words. The forward LSTM reads left-to-right while the backward LSTM reads right-to-left, and at each time step both outputs are concatenated giving 512 dimensions. This allows the model to see both preceding and following context, improving recognition accuracy. The LSTM output is passed through a linear layer projecting from 512 dimensions to 29 dimensions, representing our vocabulary. Log-</a:t>
            </a:r>
            <a:r>
              <a:rPr lang="en-US" sz="1600" dirty="0" err="1"/>
              <a:t>Softmax</a:t>
            </a:r>
            <a:r>
              <a:rPr lang="en-US" sz="1600" dirty="0"/>
              <a:t> converts these to log-probabilities for CTC loss computation during training or CTC decoding during inference.</a:t>
            </a:r>
            <a:endParaRPr lang="en-US"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027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40526"/>
            <a:ext cx="8229600" cy="477112"/>
          </a:xfrm>
        </p:spPr>
        <p:txBody>
          <a:bodyPr>
            <a:normAutofit fontScale="90000"/>
          </a:bodyPr>
          <a:lstStyle/>
          <a:p>
            <a:r>
              <a:rPr lang="en-US" sz="3200" b="1" u="sng" dirty="0">
                <a:latin typeface="Times New Roman"/>
                <a:ea typeface="Times New Roman"/>
                <a:cs typeface="Times New Roman"/>
                <a:sym typeface="Times New Roman"/>
              </a:rPr>
              <a:t> PROPOSED METHODOLOGY</a:t>
            </a:r>
            <a:endParaRPr lang="en-US" sz="3200" dirty="0"/>
          </a:p>
        </p:txBody>
      </p:sp>
      <p:pic>
        <p:nvPicPr>
          <p:cNvPr id="5" name="Picture 4">
            <a:extLst>
              <a:ext uri="{FF2B5EF4-FFF2-40B4-BE49-F238E27FC236}">
                <a16:creationId xmlns:a16="http://schemas.microsoft.com/office/drawing/2014/main" id="{C9ADE3E4-F44F-15F4-6F31-EDDBC29B4CEB}"/>
              </a:ext>
            </a:extLst>
          </p:cNvPr>
          <p:cNvPicPr>
            <a:picLocks noChangeAspect="1"/>
          </p:cNvPicPr>
          <p:nvPr/>
        </p:nvPicPr>
        <p:blipFill>
          <a:blip r:embed="rId2"/>
          <a:stretch>
            <a:fillRect/>
          </a:stretch>
        </p:blipFill>
        <p:spPr>
          <a:xfrm>
            <a:off x="1209976" y="1795134"/>
            <a:ext cx="6724048" cy="4122340"/>
          </a:xfrm>
          <a:prstGeom prst="rect">
            <a:avLst/>
          </a:prstGeom>
        </p:spPr>
      </p:pic>
    </p:spTree>
    <p:extLst>
      <p:ext uri="{BB962C8B-B14F-4D97-AF65-F5344CB8AC3E}">
        <p14:creationId xmlns:p14="http://schemas.microsoft.com/office/powerpoint/2010/main" val="2179013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01A80-9472-1A54-6989-58AB21DF0629}"/>
              </a:ext>
            </a:extLst>
          </p:cNvPr>
          <p:cNvSpPr>
            <a:spLocks noGrp="1"/>
          </p:cNvSpPr>
          <p:nvPr>
            <p:ph type="title"/>
          </p:nvPr>
        </p:nvSpPr>
        <p:spPr>
          <a:xfrm>
            <a:off x="457200" y="731700"/>
            <a:ext cx="8229600" cy="1143000"/>
          </a:xfrm>
        </p:spPr>
        <p:txBody>
          <a:bodyPr>
            <a:normAutofit/>
          </a:bodyPr>
          <a:lstStyle/>
          <a:p>
            <a:r>
              <a:rPr lang="en-US" sz="2900" b="1" u="sng" dirty="0">
                <a:latin typeface="Times New Roman"/>
                <a:ea typeface="Times New Roman"/>
                <a:cs typeface="Times New Roman"/>
                <a:sym typeface="Times New Roman"/>
              </a:rPr>
              <a:t> PROPOSED METHODOLOGY</a:t>
            </a:r>
            <a:endParaRPr lang="en-IN" sz="2900" dirty="0"/>
          </a:p>
        </p:txBody>
      </p:sp>
      <p:sp>
        <p:nvSpPr>
          <p:cNvPr id="3" name="Text Placeholder 2">
            <a:extLst>
              <a:ext uri="{FF2B5EF4-FFF2-40B4-BE49-F238E27FC236}">
                <a16:creationId xmlns:a16="http://schemas.microsoft.com/office/drawing/2014/main" id="{155E6C34-5BE2-3CE2-6FA3-09001C3F23C7}"/>
              </a:ext>
            </a:extLst>
          </p:cNvPr>
          <p:cNvSpPr>
            <a:spLocks noGrp="1"/>
          </p:cNvSpPr>
          <p:nvPr>
            <p:ph type="body" idx="1"/>
          </p:nvPr>
        </p:nvSpPr>
        <p:spPr/>
        <p:txBody>
          <a:bodyPr>
            <a:normAutofit fontScale="70000" lnSpcReduction="20000"/>
          </a:bodyPr>
          <a:lstStyle/>
          <a:p>
            <a:r>
              <a:rPr lang="en-US" b="1" dirty="0">
                <a:latin typeface="Times New Roman" panose="02020603050405020304" pitchFamily="18" charset="0"/>
                <a:cs typeface="Times New Roman" panose="02020603050405020304" pitchFamily="18" charset="0"/>
              </a:rPr>
              <a:t>Model Initialization: </a:t>
            </a:r>
            <a:r>
              <a:rPr lang="en-US" dirty="0">
                <a:latin typeface="Times New Roman" panose="02020603050405020304" pitchFamily="18" charset="0"/>
                <a:cs typeface="Times New Roman" panose="02020603050405020304" pitchFamily="18" charset="0"/>
              </a:rPr>
              <a:t>The CNNLSTMCTC class in model.py combines all components we discussed. The encoder processes spectrograms through two convolutional layers with 64 filters each. The LSTM has 256 hidden units per direction, 2 layers, dropout of 0.3, and bidirectional processing. The linear layer projects from 512 dimensions to 29 dimensions representing our vocabulary.</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Forward Pass: </a:t>
            </a:r>
            <a:r>
              <a:rPr lang="en-US" dirty="0">
                <a:latin typeface="Times New Roman" panose="02020603050405020304" pitchFamily="18" charset="0"/>
                <a:cs typeface="Times New Roman" panose="02020603050405020304" pitchFamily="18" charset="0"/>
              </a:rPr>
              <a:t>In the forward pass, features go through the CNN encoder which extracts patterns and reshapes them to sequence format. The LSTM processes this sequence bidirectionally, capturing temporal dependencies. The linear layer converts LSTM outputs to character probabilities, and Log-</a:t>
            </a:r>
            <a:r>
              <a:rPr lang="en-US" dirty="0" err="1">
                <a:latin typeface="Times New Roman" panose="02020603050405020304" pitchFamily="18" charset="0"/>
                <a:cs typeface="Times New Roman" panose="02020603050405020304" pitchFamily="18" charset="0"/>
              </a:rPr>
              <a:t>Softmax</a:t>
            </a:r>
            <a:r>
              <a:rPr lang="en-US" dirty="0">
                <a:latin typeface="Times New Roman" panose="02020603050405020304" pitchFamily="18" charset="0"/>
                <a:cs typeface="Times New Roman" panose="02020603050405020304" pitchFamily="18" charset="0"/>
              </a:rPr>
              <a:t> converts them to log-probabilities for CTC loss. This end-to-end architecture learns to map audio features directly to text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0016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2776"/>
            <a:ext cx="8229600" cy="424861"/>
          </a:xfrm>
        </p:spPr>
        <p:txBody>
          <a:bodyPr>
            <a:normAutofit fontScale="90000"/>
          </a:bodyPr>
          <a:lstStyle/>
          <a:p>
            <a:r>
              <a:rPr lang="en-US" sz="3200" b="1" u="sng" dirty="0">
                <a:latin typeface="Times New Roman"/>
                <a:ea typeface="Times New Roman"/>
                <a:cs typeface="Times New Roman"/>
                <a:sym typeface="Times New Roman"/>
              </a:rPr>
              <a:t> RESULTS AND DISCUSSION</a:t>
            </a:r>
            <a:endParaRPr lang="en-US" sz="3200" dirty="0"/>
          </a:p>
        </p:txBody>
      </p:sp>
      <p:sp>
        <p:nvSpPr>
          <p:cNvPr id="3" name="Text Placeholder 2"/>
          <p:cNvSpPr>
            <a:spLocks noGrp="1"/>
          </p:cNvSpPr>
          <p:nvPr>
            <p:ph type="body" idx="1"/>
          </p:nvPr>
        </p:nvSpPr>
        <p:spPr/>
        <p:txBody>
          <a:bodyPr>
            <a:noAutofit/>
          </a:bodyPr>
          <a:lstStyle/>
          <a:p>
            <a:r>
              <a:rPr lang="en-US" sz="1600" b="1" dirty="0">
                <a:latin typeface="Times New Roman" panose="02020603050405020304" pitchFamily="18" charset="0"/>
                <a:cs typeface="Times New Roman" panose="02020603050405020304" pitchFamily="18" charset="0"/>
              </a:rPr>
              <a:t>Evaluation Metrics:</a:t>
            </a:r>
            <a:r>
              <a:rPr lang="en-US" sz="1600" dirty="0">
                <a:latin typeface="Times New Roman" panose="02020603050405020304" pitchFamily="18" charset="0"/>
                <a:cs typeface="Times New Roman" panose="02020603050405020304" pitchFamily="18" charset="0"/>
              </a:rPr>
              <a:t> System effectiveness assessed using Word Error Rate (WER), Character Error Rate (CER), and overall recognition accuracy across different noise levels</a:t>
            </a:r>
          </a:p>
          <a:p>
            <a:r>
              <a:rPr lang="en-US" sz="1600" b="1" dirty="0">
                <a:latin typeface="Times New Roman" panose="02020603050405020304" pitchFamily="18" charset="0"/>
                <a:cs typeface="Times New Roman" panose="02020603050405020304" pitchFamily="18" charset="0"/>
              </a:rPr>
              <a:t>Clean Speech Performance:</a:t>
            </a:r>
            <a:r>
              <a:rPr lang="en-US" sz="1600" dirty="0">
                <a:latin typeface="Times New Roman" panose="02020603050405020304" pitchFamily="18" charset="0"/>
                <a:cs typeface="Times New Roman" panose="02020603050405020304" pitchFamily="18" charset="0"/>
              </a:rPr>
              <a:t> System achieves low WER and CER, indicating the model matches reference transcripts well</a:t>
            </a:r>
          </a:p>
          <a:p>
            <a:r>
              <a:rPr lang="en-US" sz="1600" b="1" dirty="0">
                <a:latin typeface="Times New Roman" panose="02020603050405020304" pitchFamily="18" charset="0"/>
                <a:cs typeface="Times New Roman" panose="02020603050405020304" pitchFamily="18" charset="0"/>
              </a:rPr>
              <a:t>Moderate Noise (20 dB SNR):</a:t>
            </a:r>
            <a:r>
              <a:rPr lang="en-US" sz="1600" dirty="0">
                <a:latin typeface="Times New Roman" panose="02020603050405020304" pitchFamily="18" charset="0"/>
                <a:cs typeface="Times New Roman" panose="02020603050405020304" pitchFamily="18" charset="0"/>
              </a:rPr>
              <a:t> Performance is very close to clean conditions, showing improved robustness compared to baseline systems</a:t>
            </a:r>
          </a:p>
          <a:p>
            <a:r>
              <a:rPr lang="en-US" sz="1600" b="1" dirty="0">
                <a:latin typeface="Times New Roman" panose="02020603050405020304" pitchFamily="18" charset="0"/>
                <a:cs typeface="Times New Roman" panose="02020603050405020304" pitchFamily="18" charset="0"/>
              </a:rPr>
              <a:t>Higher Noise (10 dB SNR):</a:t>
            </a:r>
            <a:r>
              <a:rPr lang="en-US" sz="1600" dirty="0">
                <a:latin typeface="Times New Roman" panose="02020603050405020304" pitchFamily="18" charset="0"/>
                <a:cs typeface="Times New Roman" panose="02020603050405020304" pitchFamily="18" charset="0"/>
              </a:rPr>
              <a:t> Some degradation occurs but our CNN-LSTM model still outperforms baseline DNN and CNN models consistently</a:t>
            </a:r>
          </a:p>
          <a:p>
            <a:r>
              <a:rPr lang="en-US" sz="1600" b="1" dirty="0">
                <a:latin typeface="Times New Roman" panose="02020603050405020304" pitchFamily="18" charset="0"/>
                <a:cs typeface="Times New Roman" panose="02020603050405020304" pitchFamily="18" charset="0"/>
              </a:rPr>
              <a:t>Very High Noise (5 dB SNR or below):</a:t>
            </a:r>
            <a:r>
              <a:rPr lang="en-US" sz="1600" dirty="0">
                <a:latin typeface="Times New Roman" panose="02020603050405020304" pitchFamily="18" charset="0"/>
                <a:cs typeface="Times New Roman" panose="02020603050405020304" pitchFamily="18" charset="0"/>
              </a:rPr>
              <a:t> Performance degrades further, representing an area for future improvement</a:t>
            </a:r>
          </a:p>
          <a:p>
            <a:r>
              <a:rPr lang="en-US" sz="1600" b="1" dirty="0">
                <a:latin typeface="Times New Roman" panose="02020603050405020304" pitchFamily="18" charset="0"/>
                <a:cs typeface="Times New Roman" panose="02020603050405020304" pitchFamily="18" charset="0"/>
              </a:rPr>
              <a:t>Architecture Benefits:</a:t>
            </a:r>
            <a:r>
              <a:rPr lang="en-US" sz="1600" dirty="0">
                <a:latin typeface="Times New Roman" panose="02020603050405020304" pitchFamily="18" charset="0"/>
                <a:cs typeface="Times New Roman" panose="02020603050405020304" pitchFamily="18" charset="0"/>
              </a:rPr>
              <a:t> CNN-LSTM maintains better performance than pure CNN or pure LSTM models because CNN layers extract robust local features less sensitive to noise, while bidirectional LSTM provides contextual information that helps correct errors</a:t>
            </a:r>
          </a:p>
          <a:p>
            <a:r>
              <a:rPr lang="en-US" sz="1600" b="1" dirty="0">
                <a:latin typeface="Times New Roman" panose="02020603050405020304" pitchFamily="18" charset="0"/>
                <a:cs typeface="Times New Roman" panose="02020603050405020304" pitchFamily="18" charset="0"/>
              </a:rPr>
              <a:t>Data Augmentation Impact:</a:t>
            </a:r>
            <a:r>
              <a:rPr lang="en-US" sz="1600" dirty="0">
                <a:latin typeface="Times New Roman" panose="02020603050405020304" pitchFamily="18" charset="0"/>
                <a:cs typeface="Times New Roman" panose="02020603050405020304" pitchFamily="18" charset="0"/>
              </a:rPr>
              <a:t> Extensive data augmentation including </a:t>
            </a:r>
            <a:r>
              <a:rPr lang="en-US" sz="1600" dirty="0" err="1">
                <a:latin typeface="Times New Roman" panose="02020603050405020304" pitchFamily="18" charset="0"/>
                <a:cs typeface="Times New Roman" panose="02020603050405020304" pitchFamily="18" charset="0"/>
              </a:rPr>
              <a:t>SpecAugment</a:t>
            </a:r>
            <a:r>
              <a:rPr lang="en-US" sz="1600" dirty="0">
                <a:latin typeface="Times New Roman" panose="02020603050405020304" pitchFamily="18" charset="0"/>
                <a:cs typeface="Times New Roman" panose="02020603050405020304" pitchFamily="18" charset="0"/>
              </a:rPr>
              <a:t> and speed perturbation contributes significantly to robustness by exposing the model to diverse noise conditions during training</a:t>
            </a:r>
            <a:endParaRPr lang="en-US" sz="16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86697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2776"/>
            <a:ext cx="8229600" cy="424861"/>
          </a:xfrm>
        </p:spPr>
        <p:txBody>
          <a:bodyPr>
            <a:normAutofit fontScale="90000"/>
          </a:bodyPr>
          <a:lstStyle/>
          <a:p>
            <a:r>
              <a:rPr lang="en-US" sz="3200" b="1" u="sng" dirty="0">
                <a:latin typeface="Times New Roman"/>
                <a:ea typeface="Times New Roman"/>
                <a:cs typeface="Times New Roman"/>
                <a:sym typeface="Times New Roman"/>
              </a:rPr>
              <a:t> RESULTS AND DISCUSSION</a:t>
            </a:r>
            <a:endParaRPr lang="en-US" sz="3200" dirty="0"/>
          </a:p>
        </p:txBody>
      </p:sp>
      <p:sp>
        <p:nvSpPr>
          <p:cNvPr id="3" name="Text Placeholder 2"/>
          <p:cNvSpPr>
            <a:spLocks noGrp="1"/>
          </p:cNvSpPr>
          <p:nvPr>
            <p:ph type="body" idx="1"/>
          </p:nvPr>
        </p:nvSpPr>
        <p:spPr/>
        <p:txBody>
          <a:bodyPr>
            <a:noAutofit/>
          </a:bodyPr>
          <a:lstStyle/>
          <a:p>
            <a:r>
              <a:rPr lang="en-US" sz="1600" b="1" dirty="0">
                <a:latin typeface="Times New Roman" panose="02020603050405020304" pitchFamily="18" charset="0"/>
                <a:cs typeface="Times New Roman" panose="02020603050405020304" pitchFamily="18" charset="0"/>
              </a:rPr>
              <a:t>Baseline Comparison:</a:t>
            </a:r>
            <a:r>
              <a:rPr lang="en-US" sz="1600" dirty="0">
                <a:latin typeface="Times New Roman" panose="02020603050405020304" pitchFamily="18" charset="0"/>
                <a:cs typeface="Times New Roman" panose="02020603050405020304" pitchFamily="18" charset="0"/>
              </a:rPr>
              <a:t> Our hybrid CNN-LSTM architecture outperforms traditional DNN-based models and pure CNN models across different noise levels</a:t>
            </a:r>
          </a:p>
          <a:p>
            <a:r>
              <a:rPr lang="en-US" sz="1600" b="1" dirty="0">
                <a:latin typeface="Times New Roman" panose="02020603050405020304" pitchFamily="18" charset="0"/>
                <a:cs typeface="Times New Roman" panose="02020603050405020304" pitchFamily="18" charset="0"/>
              </a:rPr>
              <a:t>Noise Robustness:</a:t>
            </a:r>
            <a:r>
              <a:rPr lang="en-US" sz="1600" dirty="0">
                <a:latin typeface="Times New Roman" panose="02020603050405020304" pitchFamily="18" charset="0"/>
                <a:cs typeface="Times New Roman" panose="02020603050405020304" pitchFamily="18" charset="0"/>
              </a:rPr>
              <a:t> Baseline models show significant performance degradation in noisy conditions, while our proposed system maintains relatively stable performance</a:t>
            </a:r>
          </a:p>
          <a:p>
            <a:r>
              <a:rPr lang="en-US" sz="1600" b="1" dirty="0">
                <a:latin typeface="Times New Roman" panose="02020603050405020304" pitchFamily="18" charset="0"/>
                <a:cs typeface="Times New Roman" panose="02020603050405020304" pitchFamily="18" charset="0"/>
              </a:rPr>
              <a:t>Complementary Strengths:</a:t>
            </a:r>
            <a:r>
              <a:rPr lang="en-US" sz="1600" dirty="0">
                <a:latin typeface="Times New Roman" panose="02020603050405020304" pitchFamily="18" charset="0"/>
                <a:cs typeface="Times New Roman" panose="02020603050405020304" pitchFamily="18" charset="0"/>
              </a:rPr>
              <a:t> CNNs excel at extracting local spectral-temporal patterns robust to noise, while LSTMs model long-term dependencies that help recover from noise-induced errors</a:t>
            </a:r>
          </a:p>
          <a:p>
            <a:r>
              <a:rPr lang="en-US" sz="1600" b="1" dirty="0">
                <a:latin typeface="Times New Roman" panose="02020603050405020304" pitchFamily="18" charset="0"/>
                <a:cs typeface="Times New Roman" panose="02020603050405020304" pitchFamily="18" charset="0"/>
              </a:rPr>
              <a:t>End-to-End Training:</a:t>
            </a:r>
            <a:r>
              <a:rPr lang="en-US" sz="1600" dirty="0">
                <a:latin typeface="Times New Roman" panose="02020603050405020304" pitchFamily="18" charset="0"/>
                <a:cs typeface="Times New Roman" panose="02020603050405020304" pitchFamily="18" charset="0"/>
              </a:rPr>
              <a:t> CTC loss allows the model to learn optimal feature representations and alignments automatically, without requiring manual feature engineering or forced alignment</a:t>
            </a:r>
          </a:p>
          <a:p>
            <a:r>
              <a:rPr lang="en-US" sz="1600" b="1" dirty="0">
                <a:latin typeface="Times New Roman" panose="02020603050405020304" pitchFamily="18" charset="0"/>
                <a:cs typeface="Times New Roman" panose="02020603050405020304" pitchFamily="18" charset="0"/>
              </a:rPr>
              <a:t>Web Interface:</a:t>
            </a:r>
            <a:r>
              <a:rPr lang="en-US" sz="1600" dirty="0">
                <a:latin typeface="Times New Roman" panose="02020603050405020304" pitchFamily="18" charset="0"/>
                <a:cs typeface="Times New Roman" panose="02020603050405020304" pitchFamily="18" charset="0"/>
              </a:rPr>
              <a:t> System includes a web-based interface implemented in web/app.py that enables real-time speech recognition through microphone input, demonstrating practical applicability on CPU hardware</a:t>
            </a:r>
          </a:p>
          <a:p>
            <a:r>
              <a:rPr lang="en-US" sz="1600" b="1" dirty="0">
                <a:latin typeface="Times New Roman" panose="02020603050405020304" pitchFamily="18" charset="0"/>
                <a:cs typeface="Times New Roman" panose="02020603050405020304" pitchFamily="18" charset="0"/>
              </a:rPr>
              <a:t>Evaluation Framework:</a:t>
            </a:r>
            <a:r>
              <a:rPr lang="en-US" sz="1600" dirty="0">
                <a:latin typeface="Times New Roman" panose="02020603050405020304" pitchFamily="18" charset="0"/>
                <a:cs typeface="Times New Roman" panose="02020603050405020304" pitchFamily="18" charset="0"/>
              </a:rPr>
              <a:t> The evaluation framework in evaluate.py computes WER and CER metrics, while plots.py generates visualization figures showing training curves, confusion matrices, and performance comparisons</a:t>
            </a:r>
            <a:endParaRPr lang="en-US" sz="16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06705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2776"/>
            <a:ext cx="8229600" cy="424861"/>
          </a:xfrm>
        </p:spPr>
        <p:txBody>
          <a:bodyPr>
            <a:normAutofit fontScale="90000"/>
          </a:bodyPr>
          <a:lstStyle/>
          <a:p>
            <a:r>
              <a:rPr lang="en-US" sz="3200" b="1" u="sng" dirty="0">
                <a:latin typeface="Times New Roman"/>
                <a:ea typeface="Times New Roman"/>
                <a:cs typeface="Times New Roman"/>
                <a:sym typeface="Times New Roman"/>
              </a:rPr>
              <a:t> CONCLUSION</a:t>
            </a:r>
            <a:endParaRPr lang="en-US" sz="3200" dirty="0"/>
          </a:p>
        </p:txBody>
      </p:sp>
      <p:sp>
        <p:nvSpPr>
          <p:cNvPr id="3" name="Text Placeholder 2"/>
          <p:cNvSpPr>
            <a:spLocks noGrp="1"/>
          </p:cNvSpPr>
          <p:nvPr>
            <p:ph type="body" idx="1"/>
          </p:nvPr>
        </p:nvSpPr>
        <p:spPr/>
        <p:txBody>
          <a:bodyPr>
            <a:normAutofit/>
          </a:bodyPr>
          <a:lstStyle/>
          <a:p>
            <a:r>
              <a:rPr lang="en-US" sz="1600" b="1" dirty="0">
                <a:latin typeface="Times New Roman" panose="02020603050405020304" pitchFamily="18" charset="0"/>
                <a:cs typeface="Times New Roman" panose="02020603050405020304" pitchFamily="18" charset="0"/>
              </a:rPr>
              <a:t>Project Summary:</a:t>
            </a:r>
            <a:r>
              <a:rPr lang="en-US" sz="1600" dirty="0">
                <a:latin typeface="Times New Roman" panose="02020603050405020304" pitchFamily="18" charset="0"/>
                <a:cs typeface="Times New Roman" panose="02020603050405020304" pitchFamily="18" charset="0"/>
              </a:rPr>
              <a:t> Complete deep-learning based speech-to-text system designed, implemented, and evaluated in a VTU academic setting</a:t>
            </a:r>
          </a:p>
          <a:p>
            <a:r>
              <a:rPr lang="en-US" sz="1600" b="1" dirty="0">
                <a:latin typeface="Times New Roman" panose="02020603050405020304" pitchFamily="18" charset="0"/>
                <a:cs typeface="Times New Roman" panose="02020603050405020304" pitchFamily="18" charset="0"/>
              </a:rPr>
              <a:t>Architecture Components:</a:t>
            </a:r>
            <a:r>
              <a:rPr lang="en-US" sz="1600" dirty="0">
                <a:latin typeface="Times New Roman" panose="02020603050405020304" pitchFamily="18" charset="0"/>
                <a:cs typeface="Times New Roman" panose="02020603050405020304" pitchFamily="18" charset="0"/>
              </a:rPr>
              <a:t> Log-Mel Spectrogram features with 80 mel bins, CNN encoder with two convolutional layers of 64 channels each, bidirectional LSTM with 2 layers and 256 hidden units, and CTC loss for end-to-end training</a:t>
            </a:r>
          </a:p>
          <a:p>
            <a:r>
              <a:rPr lang="en-US" sz="1600" b="1" dirty="0">
                <a:latin typeface="Times New Roman" panose="02020603050405020304" pitchFamily="18" charset="0"/>
                <a:cs typeface="Times New Roman" panose="02020603050405020304" pitchFamily="18" charset="0"/>
              </a:rPr>
              <a:t>Data Augmentation: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SpecAugment</a:t>
            </a:r>
            <a:r>
              <a:rPr lang="en-US" sz="1600" dirty="0">
                <a:latin typeface="Times New Roman" panose="02020603050405020304" pitchFamily="18" charset="0"/>
                <a:cs typeface="Times New Roman" panose="02020603050405020304" pitchFamily="18" charset="0"/>
              </a:rPr>
              <a:t> and speed perturbation used to improve robustness</a:t>
            </a:r>
          </a:p>
          <a:p>
            <a:r>
              <a:rPr lang="en-US" sz="1600" b="1" dirty="0">
                <a:latin typeface="Times New Roman" panose="02020603050405020304" pitchFamily="18" charset="0"/>
                <a:cs typeface="Times New Roman" panose="02020603050405020304" pitchFamily="18" charset="0"/>
              </a:rPr>
              <a:t>Performance:</a:t>
            </a:r>
            <a:r>
              <a:rPr lang="en-US" sz="1600" dirty="0">
                <a:latin typeface="Times New Roman" panose="02020603050405020304" pitchFamily="18" charset="0"/>
                <a:cs typeface="Times New Roman" panose="02020603050405020304" pitchFamily="18" charset="0"/>
              </a:rPr>
              <a:t> System demonstrates improved performance in various acoustic conditions and can be trained on normal CPUs</a:t>
            </a:r>
          </a:p>
          <a:p>
            <a:r>
              <a:rPr lang="en-US" sz="1600" b="1" dirty="0">
                <a:latin typeface="Times New Roman" panose="02020603050405020304" pitchFamily="18" charset="0"/>
                <a:cs typeface="Times New Roman" panose="02020603050405020304" pitchFamily="18" charset="0"/>
              </a:rPr>
              <a:t>Validation:</a:t>
            </a:r>
            <a:r>
              <a:rPr lang="en-US" sz="1600" dirty="0">
                <a:latin typeface="Times New Roman" panose="02020603050405020304" pitchFamily="18" charset="0"/>
                <a:cs typeface="Times New Roman" panose="02020603050405020304" pitchFamily="18" charset="0"/>
              </a:rPr>
              <a:t> Approach validated both quantitatively through WER and CER metrics at different noise levels and qualitatively through a live web-based microphone demo</a:t>
            </a:r>
          </a:p>
          <a:p>
            <a:r>
              <a:rPr lang="en-US" sz="1600" b="1" dirty="0">
                <a:latin typeface="Times New Roman" panose="02020603050405020304" pitchFamily="18" charset="0"/>
                <a:cs typeface="Times New Roman" panose="02020603050405020304" pitchFamily="18" charset="0"/>
              </a:rPr>
              <a:t>Results:</a:t>
            </a:r>
            <a:r>
              <a:rPr lang="en-US" sz="1600" dirty="0">
                <a:latin typeface="Times New Roman" panose="02020603050405020304" pitchFamily="18" charset="0"/>
                <a:cs typeface="Times New Roman" panose="02020603050405020304" pitchFamily="18" charset="0"/>
              </a:rPr>
              <a:t> Hybrid CNN-LSTM architecture achieves a favorable balance between recognition accuracy, improved noise tolerance, and computational efficiency, showing promise for deployment in real-world speech recognition applications</a:t>
            </a:r>
            <a:endParaRPr lang="en-US" sz="16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17524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84068"/>
            <a:ext cx="8229600" cy="433569"/>
          </a:xfrm>
        </p:spPr>
        <p:txBody>
          <a:bodyPr>
            <a:normAutofit fontScale="90000"/>
          </a:bodyPr>
          <a:lstStyle/>
          <a:p>
            <a:r>
              <a:rPr lang="en-US" sz="3200" b="1" u="sng" dirty="0">
                <a:latin typeface="Times New Roman"/>
                <a:ea typeface="Times New Roman"/>
                <a:cs typeface="Times New Roman"/>
                <a:sym typeface="Times New Roman"/>
              </a:rPr>
              <a:t> FUTURE WORK</a:t>
            </a:r>
            <a:endParaRPr lang="en-US" sz="3200" dirty="0"/>
          </a:p>
        </p:txBody>
      </p:sp>
      <p:sp>
        <p:nvSpPr>
          <p:cNvPr id="3" name="Text Placeholder 2"/>
          <p:cNvSpPr>
            <a:spLocks noGrp="1"/>
          </p:cNvSpPr>
          <p:nvPr>
            <p:ph type="body" idx="1"/>
          </p:nvPr>
        </p:nvSpPr>
        <p:spPr/>
        <p:txBody>
          <a:bodyPr>
            <a:normAutofit fontScale="92500" lnSpcReduction="20000"/>
          </a:bodyPr>
          <a:lstStyle/>
          <a:p>
            <a:r>
              <a:rPr lang="en-US" sz="1800" b="1" dirty="0">
                <a:latin typeface="Times New Roman" panose="02020603050405020304" pitchFamily="18" charset="0"/>
                <a:cs typeface="Times New Roman" panose="02020603050405020304" pitchFamily="18" charset="0"/>
              </a:rPr>
              <a:t>Transfer Learning:</a:t>
            </a:r>
            <a:r>
              <a:rPr lang="en-US" sz="1800" dirty="0">
                <a:latin typeface="Times New Roman" panose="02020603050405020304" pitchFamily="18" charset="0"/>
                <a:cs typeface="Times New Roman" panose="02020603050405020304" pitchFamily="18" charset="0"/>
              </a:rPr>
              <a:t> Explore transfer learning from large pre-trained speech models and fine-tuning on task-specific datasets to reduce training time and improve robustness in noisy and low-resource conditions</a:t>
            </a:r>
          </a:p>
          <a:p>
            <a:r>
              <a:rPr lang="en-US" sz="1800" b="1" dirty="0">
                <a:latin typeface="Times New Roman" panose="02020603050405020304" pitchFamily="18" charset="0"/>
                <a:cs typeface="Times New Roman" panose="02020603050405020304" pitchFamily="18" charset="0"/>
              </a:rPr>
              <a:t>Language Adaptation:</a:t>
            </a:r>
            <a:r>
              <a:rPr lang="en-US" sz="1800" dirty="0">
                <a:latin typeface="Times New Roman" panose="02020603050405020304" pitchFamily="18" charset="0"/>
                <a:cs typeface="Times New Roman" panose="02020603050405020304" pitchFamily="18" charset="0"/>
              </a:rPr>
              <a:t> Adapt the system to new languages, accents, or domain-specific vocabularies</a:t>
            </a:r>
          </a:p>
          <a:p>
            <a:r>
              <a:rPr lang="en-US" sz="1800" b="1" dirty="0">
                <a:latin typeface="Times New Roman" panose="02020603050405020304" pitchFamily="18" charset="0"/>
                <a:cs typeface="Times New Roman" panose="02020603050405020304" pitchFamily="18" charset="0"/>
              </a:rPr>
              <a:t>Speech Enhancement:</a:t>
            </a:r>
            <a:r>
              <a:rPr lang="en-US" sz="1800" dirty="0">
                <a:latin typeface="Times New Roman" panose="02020603050405020304" pitchFamily="18" charset="0"/>
                <a:cs typeface="Times New Roman" panose="02020603050405020304" pitchFamily="18" charset="0"/>
              </a:rPr>
              <a:t> Integrate advanced speech enhancement and noise suppression modules ahead of the feature extractor to improve performance under extreme acoustic interference</a:t>
            </a:r>
          </a:p>
          <a:p>
            <a:r>
              <a:rPr lang="en-US" sz="1800" b="1" dirty="0">
                <a:latin typeface="Times New Roman" panose="02020603050405020304" pitchFamily="18" charset="0"/>
                <a:cs typeface="Times New Roman" panose="02020603050405020304" pitchFamily="18" charset="0"/>
              </a:rPr>
              <a:t>Alternative Representations:</a:t>
            </a:r>
            <a:r>
              <a:rPr lang="en-US" sz="1800" dirty="0">
                <a:latin typeface="Times New Roman" panose="02020603050405020304" pitchFamily="18" charset="0"/>
                <a:cs typeface="Times New Roman" panose="02020603050405020304" pitchFamily="18" charset="0"/>
              </a:rPr>
              <a:t> Experiment with alternative acoustic representations such as learned </a:t>
            </a:r>
            <a:r>
              <a:rPr lang="en-US" sz="1800" dirty="0" err="1">
                <a:latin typeface="Times New Roman" panose="02020603050405020304" pitchFamily="18" charset="0"/>
                <a:cs typeface="Times New Roman" panose="02020603050405020304" pitchFamily="18" charset="0"/>
              </a:rPr>
              <a:t>filterbanks</a:t>
            </a:r>
            <a:r>
              <a:rPr lang="en-US" sz="1800" dirty="0">
                <a:latin typeface="Times New Roman" panose="02020603050405020304" pitchFamily="18" charset="0"/>
                <a:cs typeface="Times New Roman" panose="02020603050405020304" pitchFamily="18" charset="0"/>
              </a:rPr>
              <a:t> or multi-resolution spectrograms to reveal useful trade-offs between accuracy, invariance, and computational cost</a:t>
            </a:r>
          </a:p>
          <a:p>
            <a:r>
              <a:rPr lang="en-US" sz="1800" b="1" dirty="0">
                <a:latin typeface="Times New Roman" panose="02020603050405020304" pitchFamily="18" charset="0"/>
                <a:cs typeface="Times New Roman" panose="02020603050405020304" pitchFamily="18" charset="0"/>
              </a:rPr>
              <a:t>Model Optimization:</a:t>
            </a:r>
            <a:r>
              <a:rPr lang="en-US" sz="1800" dirty="0">
                <a:latin typeface="Times New Roman" panose="02020603050405020304" pitchFamily="18" charset="0"/>
                <a:cs typeface="Times New Roman" panose="02020603050405020304" pitchFamily="18" charset="0"/>
              </a:rPr>
              <a:t> Optimize architecture for streaming and embedded use through model compression, parameter quantization, and structured pruning to reduce memory footprint and inference latency</a:t>
            </a:r>
          </a:p>
          <a:p>
            <a:r>
              <a:rPr lang="en-US" sz="1800" b="1" dirty="0">
                <a:latin typeface="Times New Roman" panose="02020603050405020304" pitchFamily="18" charset="0"/>
                <a:cs typeface="Times New Roman" panose="02020603050405020304" pitchFamily="18" charset="0"/>
              </a:rPr>
              <a:t>Deployment:</a:t>
            </a:r>
            <a:r>
              <a:rPr lang="en-US" sz="1800" dirty="0">
                <a:latin typeface="Times New Roman" panose="02020603050405020304" pitchFamily="18" charset="0"/>
                <a:cs typeface="Times New Roman" panose="02020603050405020304" pitchFamily="18" charset="0"/>
              </a:rPr>
              <a:t> Enable deployment on mobile devices and edge platforms</a:t>
            </a:r>
          </a:p>
          <a:p>
            <a:r>
              <a:rPr lang="en-US" sz="1800" b="1" dirty="0">
                <a:latin typeface="Times New Roman" panose="02020603050405020304" pitchFamily="18" charset="0"/>
                <a:cs typeface="Times New Roman" panose="02020603050405020304" pitchFamily="18" charset="0"/>
              </a:rPr>
              <a:t>Broader Evaluation:</a:t>
            </a:r>
            <a:r>
              <a:rPr lang="en-US" sz="1800" dirty="0">
                <a:latin typeface="Times New Roman" panose="02020603050405020304" pitchFamily="18" charset="0"/>
                <a:cs typeface="Times New Roman" panose="02020603050405020304" pitchFamily="18" charset="0"/>
              </a:rPr>
              <a:t> Conduct broader empirical evaluation on conversational speech, spontaneous dialogue, and multilingual corpora to provide a clearer picture of the system's generalization capabilities</a:t>
            </a:r>
            <a:endParaRPr lang="en-US" sz="18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27888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10194"/>
            <a:ext cx="8229600" cy="407444"/>
          </a:xfrm>
        </p:spPr>
        <p:txBody>
          <a:bodyPr>
            <a:normAutofit fontScale="90000"/>
          </a:bodyPr>
          <a:lstStyle/>
          <a:p>
            <a:r>
              <a:rPr lang="en-US" sz="3200" b="1" u="sng" dirty="0">
                <a:latin typeface="Times New Roman"/>
                <a:ea typeface="Times New Roman"/>
                <a:cs typeface="Times New Roman"/>
                <a:sym typeface="Times New Roman"/>
              </a:rPr>
              <a:t> REFERENCES</a:t>
            </a:r>
            <a:endParaRPr lang="en-US" sz="3200" dirty="0"/>
          </a:p>
        </p:txBody>
      </p:sp>
      <p:sp>
        <p:nvSpPr>
          <p:cNvPr id="3" name="Text Placeholder 2"/>
          <p:cNvSpPr>
            <a:spLocks noGrp="1"/>
          </p:cNvSpPr>
          <p:nvPr>
            <p:ph type="body" idx="1"/>
          </p:nvPr>
        </p:nvSpPr>
        <p:spPr/>
        <p:txBody>
          <a:bodyPr>
            <a:normAutofit lnSpcReduction="10000"/>
          </a:bodyPr>
          <a:lstStyle/>
          <a:p>
            <a:r>
              <a:rPr lang="en-IN" sz="1800" dirty="0">
                <a:latin typeface="Times New Roman" panose="02020603050405020304" pitchFamily="18" charset="0"/>
                <a:cs typeface="Times New Roman" panose="02020603050405020304" pitchFamily="18" charset="0"/>
              </a:rPr>
              <a:t>Graves, A., et al. (2024). Connectionist Temporal Classification. IEEE Transactions on Pattern Analysis and Machine Intelligence, 31(2), 1-14.</a:t>
            </a:r>
          </a:p>
          <a:p>
            <a:r>
              <a:rPr lang="en-IN" sz="1800" dirty="0">
                <a:latin typeface="Times New Roman" panose="02020603050405020304" pitchFamily="18" charset="0"/>
                <a:cs typeface="Times New Roman" panose="02020603050405020304" pitchFamily="18" charset="0"/>
              </a:rPr>
              <a:t>Zhang, Z., et al. (2024). Deep Learning Approaches for Robust Speech Recognition in Noisy Environments. IEEE Access, 12, 24567-24580.</a:t>
            </a:r>
          </a:p>
          <a:p>
            <a:r>
              <a:rPr lang="en-IN" sz="1800" dirty="0">
                <a:latin typeface="Times New Roman" panose="02020603050405020304" pitchFamily="18" charset="0"/>
                <a:cs typeface="Times New Roman" panose="02020603050405020304" pitchFamily="18" charset="0"/>
              </a:rPr>
              <a:t>Kumar, R., &amp; Mehta, S. (2024). Hybrid CNN-LSTM Architectures for Sequence </a:t>
            </a:r>
            <a:r>
              <a:rPr lang="en-IN" sz="1800" dirty="0" err="1">
                <a:latin typeface="Times New Roman" panose="02020603050405020304" pitchFamily="18" charset="0"/>
                <a:cs typeface="Times New Roman" panose="02020603050405020304" pitchFamily="18" charset="0"/>
              </a:rPr>
              <a:t>Modeling</a:t>
            </a:r>
            <a:r>
              <a:rPr lang="en-IN" sz="1800" dirty="0">
                <a:latin typeface="Times New Roman" panose="02020603050405020304" pitchFamily="18" charset="0"/>
                <a:cs typeface="Times New Roman" panose="02020603050405020304" pitchFamily="18" charset="0"/>
              </a:rPr>
              <a:t>. International Journal of Speech Technology, 27(1), 45-60.</a:t>
            </a:r>
          </a:p>
          <a:p>
            <a:r>
              <a:rPr lang="en-IN" sz="1800" dirty="0">
                <a:latin typeface="Times New Roman" panose="02020603050405020304" pitchFamily="18" charset="0"/>
                <a:cs typeface="Times New Roman" panose="02020603050405020304" pitchFamily="18" charset="0"/>
              </a:rPr>
              <a:t>Li, J., et al. (2024). Noise-Robust Feature Extraction Techniques. Signal Processing, 215, 108-120.</a:t>
            </a:r>
          </a:p>
          <a:p>
            <a:r>
              <a:rPr lang="en-IN" sz="1800" dirty="0">
                <a:latin typeface="Times New Roman" panose="02020603050405020304" pitchFamily="18" charset="0"/>
                <a:cs typeface="Times New Roman" panose="02020603050405020304" pitchFamily="18" charset="0"/>
              </a:rPr>
              <a:t>Chen, X., &amp; Liu, Y. (2024). Revisiting Mel-Frequency Cepstral Coefficients. IEEE Signal Processing Letters, 31, 220-224</a:t>
            </a:r>
            <a:br>
              <a:rPr lang="en-IN" sz="1800" dirty="0">
                <a:latin typeface="Times New Roman" panose="02020603050405020304" pitchFamily="18" charset="0"/>
                <a:cs typeface="Times New Roman" panose="02020603050405020304" pitchFamily="18" charset="0"/>
              </a:rPr>
            </a:br>
            <a:r>
              <a:rPr lang="en-IN" sz="1800" dirty="0"/>
              <a:t>Park, D., et al. (2024). Data Augmentation Strategies. Proceedings of INTERSPEECH, 1890-1894.</a:t>
            </a:r>
          </a:p>
          <a:p>
            <a:r>
              <a:rPr lang="en-IN" sz="1800" dirty="0"/>
              <a:t>Anderson, M., &amp; Brown, P. (2024). Bidirectional LSTM Networks. Neural Networks, 173, 12-24.</a:t>
            </a:r>
          </a:p>
          <a:p>
            <a:r>
              <a:rPr lang="en-IN" sz="1800" dirty="0"/>
              <a:t>Wang, H., et al. (2024). Adaptive Pooling Techniques. IEEE Transactions on Neural Networks and Learning Systems, 35(4), 1789-1801.</a:t>
            </a:r>
          </a:p>
          <a:p>
            <a:endParaRPr lang="en-IN" sz="18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115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10194"/>
            <a:ext cx="8229600" cy="407444"/>
          </a:xfrm>
        </p:spPr>
        <p:txBody>
          <a:bodyPr>
            <a:normAutofit fontScale="90000"/>
          </a:bodyPr>
          <a:lstStyle/>
          <a:p>
            <a:r>
              <a:rPr lang="en-US" sz="3200" b="1" u="sng" dirty="0">
                <a:latin typeface="Times New Roman"/>
                <a:ea typeface="Times New Roman"/>
                <a:cs typeface="Times New Roman"/>
                <a:sym typeface="Times New Roman"/>
              </a:rPr>
              <a:t> REFERENCES</a:t>
            </a:r>
            <a:endParaRPr lang="en-US" sz="3200" dirty="0"/>
          </a:p>
        </p:txBody>
      </p:sp>
      <p:sp>
        <p:nvSpPr>
          <p:cNvPr id="3" name="Text Placeholder 2"/>
          <p:cNvSpPr>
            <a:spLocks noGrp="1"/>
          </p:cNvSpPr>
          <p:nvPr>
            <p:ph type="body" idx="1"/>
          </p:nvPr>
        </p:nvSpPr>
        <p:spPr/>
        <p:txBody>
          <a:bodyPr>
            <a:normAutofit lnSpcReduction="10000"/>
          </a:bodyPr>
          <a:lstStyle/>
          <a:p>
            <a:r>
              <a:rPr lang="en-IN" sz="1800" dirty="0">
                <a:latin typeface="Times New Roman" panose="02020603050405020304" pitchFamily="18" charset="0"/>
                <a:cs typeface="Times New Roman" panose="02020603050405020304" pitchFamily="18" charset="0"/>
              </a:rPr>
              <a:t>Johnson, T., et al. (2024). An Empirical Analysis of </a:t>
            </a:r>
            <a:r>
              <a:rPr lang="en-IN" sz="1800" dirty="0" err="1">
                <a:latin typeface="Times New Roman" panose="02020603050405020304" pitchFamily="18" charset="0"/>
                <a:cs typeface="Times New Roman" panose="02020603050405020304" pitchFamily="18" charset="0"/>
              </a:rPr>
              <a:t>LibriSpeech</a:t>
            </a:r>
            <a:r>
              <a:rPr lang="en-IN" sz="1800" dirty="0">
                <a:latin typeface="Times New Roman" panose="02020603050405020304" pitchFamily="18" charset="0"/>
                <a:cs typeface="Times New Roman" panose="02020603050405020304" pitchFamily="18" charset="0"/>
              </a:rPr>
              <a:t> Dataset. Computer Speech &amp; Language, 86, 101-115.</a:t>
            </a:r>
          </a:p>
          <a:p>
            <a:r>
              <a:rPr lang="en-IN" sz="1800" dirty="0">
                <a:latin typeface="Times New Roman" panose="02020603050405020304" pitchFamily="18" charset="0"/>
                <a:cs typeface="Times New Roman" panose="02020603050405020304" pitchFamily="18" charset="0"/>
              </a:rPr>
              <a:t>Rodriguez, L., &amp; Fernandez, A. (2024). Real-Time Speech Recognition. IEEE Transactions on Multimedia, 26, 345-357.</a:t>
            </a:r>
          </a:p>
          <a:p>
            <a:r>
              <a:rPr lang="en-IN" sz="1800" dirty="0">
                <a:latin typeface="Times New Roman" panose="02020603050405020304" pitchFamily="18" charset="0"/>
                <a:cs typeface="Times New Roman" panose="02020603050405020304" pitchFamily="18" charset="0"/>
              </a:rPr>
              <a:t>Lee, S., &amp; Kim, J. (2024). Transfer Learning Approaches. IEEE Access, 12, 39821-39835.</a:t>
            </a:r>
          </a:p>
          <a:p>
            <a:r>
              <a:rPr lang="en-IN" sz="1800" dirty="0">
                <a:latin typeface="Times New Roman" panose="02020603050405020304" pitchFamily="18" charset="0"/>
                <a:cs typeface="Times New Roman" panose="02020603050405020304" pitchFamily="18" charset="0"/>
              </a:rPr>
              <a:t>Smith, R., et al. (2024). Attention Mechanisms in End-to-End Speech Recognition. Pattern Recognition Letters, 182, 15-26.</a:t>
            </a:r>
          </a:p>
          <a:p>
            <a:r>
              <a:rPr lang="en-IN" sz="1800" dirty="0">
                <a:latin typeface="Times New Roman" panose="02020603050405020304" pitchFamily="18" charset="0"/>
                <a:cs typeface="Times New Roman" panose="02020603050405020304" pitchFamily="18" charset="0"/>
              </a:rPr>
              <a:t>Brown, A., &amp; Davis, C. (2024). Comparative Study of Modern ASR Architectures. ACM Transactions on Speech and Language Processing, 21(2), 1-18.</a:t>
            </a:r>
          </a:p>
          <a:p>
            <a:r>
              <a:rPr lang="en-IN" sz="1800" dirty="0">
                <a:latin typeface="Times New Roman" panose="02020603050405020304" pitchFamily="18" charset="0"/>
                <a:cs typeface="Times New Roman" panose="02020603050405020304" pitchFamily="18" charset="0"/>
              </a:rPr>
              <a:t>Garcia, M., et al. (2024). Noise Reduction Techniques. Digital Signal Processing, 146, 104-117.</a:t>
            </a:r>
          </a:p>
          <a:p>
            <a:r>
              <a:rPr lang="en-IN" sz="1800" dirty="0">
                <a:latin typeface="Times New Roman" panose="02020603050405020304" pitchFamily="18" charset="0"/>
                <a:cs typeface="Times New Roman" panose="02020603050405020304" pitchFamily="18" charset="0"/>
              </a:rPr>
              <a:t>Thompson, J., &amp; White, E. (2024). Evaluation Metrics and Error Analysis. IEEE Signal Processing Magazine, 41(3), 92-104.</a:t>
            </a:r>
            <a:endParaRPr lang="en-IN" sz="18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37589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08250"/>
            <a:ext cx="8229600" cy="409388"/>
          </a:xfrm>
        </p:spPr>
        <p:txBody>
          <a:bodyPr>
            <a:normAutofit fontScale="90000"/>
          </a:bodyPr>
          <a:lstStyle/>
          <a:p>
            <a:r>
              <a:rPr lang="en-US" sz="3200" u="sng" dirty="0">
                <a:latin typeface="Times New Roman"/>
                <a:ea typeface="Times New Roman"/>
                <a:cs typeface="Times New Roman"/>
                <a:sym typeface="Times New Roman"/>
              </a:rPr>
              <a:t>TIMELINE</a:t>
            </a:r>
            <a:endParaRPr lang="en-US" sz="3200" dirty="0"/>
          </a:p>
        </p:txBody>
      </p:sp>
      <p:grpSp>
        <p:nvGrpSpPr>
          <p:cNvPr id="3" name="Google Shape;180;g2a0c8158c01_0_0"/>
          <p:cNvGrpSpPr/>
          <p:nvPr/>
        </p:nvGrpSpPr>
        <p:grpSpPr>
          <a:xfrm>
            <a:off x="457201" y="1724298"/>
            <a:ext cx="2823060" cy="4566712"/>
            <a:chOff x="1083025" y="1466064"/>
            <a:chExt cx="1834900" cy="2513829"/>
          </a:xfrm>
        </p:grpSpPr>
        <p:sp>
          <p:nvSpPr>
            <p:cNvPr id="4" name="Google Shape;181;g2a0c8158c01_0_0"/>
            <p:cNvSpPr txBox="1"/>
            <p:nvPr/>
          </p:nvSpPr>
          <p:spPr>
            <a:xfrm>
              <a:off x="1573925" y="1466064"/>
              <a:ext cx="853200" cy="4464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600"/>
                </a:spcAft>
                <a:buNone/>
              </a:pPr>
              <a:r>
                <a:rPr lang="en-US" sz="1000" b="1">
                  <a:solidFill>
                    <a:srgbClr val="0C58D3"/>
                  </a:solidFill>
                  <a:latin typeface="Times New Roman"/>
                  <a:ea typeface="Times New Roman"/>
                  <a:cs typeface="Times New Roman"/>
                  <a:sym typeface="Times New Roman"/>
                </a:rPr>
                <a:t>OCTOBER</a:t>
              </a:r>
              <a:endParaRPr sz="1000" b="1">
                <a:solidFill>
                  <a:srgbClr val="0C58D3"/>
                </a:solidFill>
                <a:latin typeface="Times New Roman"/>
                <a:ea typeface="Times New Roman"/>
                <a:cs typeface="Times New Roman"/>
                <a:sym typeface="Times New Roman"/>
              </a:endParaRPr>
            </a:p>
          </p:txBody>
        </p:sp>
        <p:sp>
          <p:nvSpPr>
            <p:cNvPr id="5" name="Google Shape;182;g2a0c8158c01_0_0"/>
            <p:cNvSpPr txBox="1"/>
            <p:nvPr/>
          </p:nvSpPr>
          <p:spPr>
            <a:xfrm>
              <a:off x="1235825" y="2695025"/>
              <a:ext cx="1505100" cy="302976"/>
            </a:xfrm>
            <a:prstGeom prst="rect">
              <a:avLst/>
            </a:prstGeom>
            <a:noFill/>
            <a:ln>
              <a:noFill/>
            </a:ln>
          </p:spPr>
          <p:txBody>
            <a:bodyPr spcFirstLastPara="1" wrap="square" lIns="91425" tIns="91425" rIns="91425" bIns="91425" anchor="t" anchorCtr="0">
              <a:noAutofit/>
            </a:bodyPr>
            <a:lstStyle/>
            <a:p>
              <a:pPr lvl="0">
                <a:lnSpc>
                  <a:spcPct val="115000"/>
                </a:lnSpc>
              </a:pPr>
              <a:r>
                <a:rPr lang="en-US" b="1" dirty="0">
                  <a:latin typeface="Times New Roman" panose="02020603050405020304" pitchFamily="18" charset="0"/>
                  <a:cs typeface="Times New Roman" panose="02020603050405020304" pitchFamily="18" charset="0"/>
                </a:rPr>
                <a:t>Problem Definition and Requirement Analysis</a:t>
              </a:r>
              <a:endParaRPr b="1" dirty="0">
                <a:solidFill>
                  <a:srgbClr val="0C58D3"/>
                </a:solidFill>
                <a:latin typeface="Times New Roman" panose="02020603050405020304" pitchFamily="18" charset="0"/>
                <a:ea typeface="Times New Roman"/>
                <a:cs typeface="Times New Roman" panose="02020603050405020304" pitchFamily="18" charset="0"/>
                <a:sym typeface="Times New Roman"/>
              </a:endParaRPr>
            </a:p>
          </p:txBody>
        </p:sp>
        <p:sp>
          <p:nvSpPr>
            <p:cNvPr id="6" name="Google Shape;183;g2a0c8158c01_0_0"/>
            <p:cNvSpPr txBox="1"/>
            <p:nvPr/>
          </p:nvSpPr>
          <p:spPr>
            <a:xfrm>
              <a:off x="1208079" y="3139193"/>
              <a:ext cx="1545600" cy="840700"/>
            </a:xfrm>
            <a:prstGeom prst="rect">
              <a:avLst/>
            </a:prstGeom>
            <a:noFill/>
            <a:ln>
              <a:noFill/>
            </a:ln>
          </p:spPr>
          <p:txBody>
            <a:bodyPr spcFirstLastPara="1" wrap="square" lIns="91425" tIns="91425" rIns="91425" bIns="91425" anchor="t" anchorCtr="0">
              <a:noAutofit/>
            </a:bodyPr>
            <a:lstStyle/>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Identified challenge of robust speech recognition in noisy environments</a:t>
              </a:r>
            </a:p>
            <a:p>
              <a:pPr marL="171450" indent="-171450">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Analyzed requirements for CPU-based training and deployment</a:t>
              </a:r>
            </a:p>
            <a:p>
              <a:pPr marL="171450" indent="-171450">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Defined project scope and objectives</a:t>
              </a:r>
            </a:p>
          </p:txBody>
        </p:sp>
        <p:cxnSp>
          <p:nvCxnSpPr>
            <p:cNvPr id="7" name="Google Shape;184;g2a0c8158c01_0_0"/>
            <p:cNvCxnSpPr/>
            <p:nvPr/>
          </p:nvCxnSpPr>
          <p:spPr>
            <a:xfrm>
              <a:off x="2180202" y="1695421"/>
              <a:ext cx="718500" cy="741900"/>
            </a:xfrm>
            <a:prstGeom prst="straightConnector1">
              <a:avLst/>
            </a:prstGeom>
            <a:noFill/>
            <a:ln w="9525" cap="flat" cmpd="sng">
              <a:solidFill>
                <a:srgbClr val="0D5DDF"/>
              </a:solidFill>
              <a:prstDash val="solid"/>
              <a:round/>
              <a:headEnd type="none" w="sm" len="sm"/>
              <a:tailEnd type="none" w="sm" len="sm"/>
            </a:ln>
          </p:spPr>
        </p:cxnSp>
        <p:sp>
          <p:nvSpPr>
            <p:cNvPr id="8" name="Google Shape;185;g2a0c8158c01_0_0"/>
            <p:cNvSpPr/>
            <p:nvPr/>
          </p:nvSpPr>
          <p:spPr>
            <a:xfrm flipH="1">
              <a:off x="1083025" y="2306625"/>
              <a:ext cx="1834800" cy="143400"/>
            </a:xfrm>
            <a:prstGeom prst="parallelogram">
              <a:avLst>
                <a:gd name="adj" fmla="val 96952"/>
              </a:avLst>
            </a:prstGeom>
            <a:solidFill>
              <a:srgbClr val="0D5D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t>  </a:t>
              </a:r>
              <a:endParaRPr/>
            </a:p>
          </p:txBody>
        </p:sp>
        <p:sp>
          <p:nvSpPr>
            <p:cNvPr id="9" name="Google Shape;186;g2a0c8158c01_0_0"/>
            <p:cNvSpPr/>
            <p:nvPr/>
          </p:nvSpPr>
          <p:spPr>
            <a:xfrm>
              <a:off x="1083125" y="2460449"/>
              <a:ext cx="1834800" cy="143400"/>
            </a:xfrm>
            <a:prstGeom prst="parallelogram">
              <a:avLst>
                <a:gd name="adj" fmla="val 96952"/>
              </a:avLst>
            </a:prstGeom>
            <a:solidFill>
              <a:srgbClr val="0944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 name="Google Shape;187;g2a0c8158c01_0_0"/>
          <p:cNvGrpSpPr/>
          <p:nvPr/>
        </p:nvGrpSpPr>
        <p:grpSpPr>
          <a:xfrm>
            <a:off x="3297030" y="1629212"/>
            <a:ext cx="2760616" cy="4661797"/>
            <a:chOff x="1083025" y="1431089"/>
            <a:chExt cx="1834900" cy="2461555"/>
          </a:xfrm>
        </p:grpSpPr>
        <p:sp>
          <p:nvSpPr>
            <p:cNvPr id="11" name="Google Shape;188;g2a0c8158c01_0_0"/>
            <p:cNvSpPr txBox="1"/>
            <p:nvPr/>
          </p:nvSpPr>
          <p:spPr>
            <a:xfrm>
              <a:off x="1521327" y="1431089"/>
              <a:ext cx="961200" cy="2412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600"/>
                </a:spcAft>
                <a:buNone/>
              </a:pPr>
              <a:r>
                <a:rPr lang="en-US" sz="1000" b="1">
                  <a:solidFill>
                    <a:srgbClr val="0C58D3"/>
                  </a:solidFill>
                  <a:latin typeface="Times New Roman"/>
                  <a:ea typeface="Times New Roman"/>
                  <a:cs typeface="Times New Roman"/>
                  <a:sym typeface="Times New Roman"/>
                </a:rPr>
                <a:t>NOVEMBER</a:t>
              </a:r>
              <a:endParaRPr sz="1000" b="1">
                <a:solidFill>
                  <a:srgbClr val="0C58D3"/>
                </a:solidFill>
                <a:latin typeface="Times New Roman"/>
                <a:ea typeface="Times New Roman"/>
                <a:cs typeface="Times New Roman"/>
                <a:sym typeface="Times New Roman"/>
              </a:endParaRPr>
            </a:p>
          </p:txBody>
        </p:sp>
        <p:sp>
          <p:nvSpPr>
            <p:cNvPr id="12" name="Google Shape;189;g2a0c8158c01_0_0"/>
            <p:cNvSpPr txBox="1"/>
            <p:nvPr/>
          </p:nvSpPr>
          <p:spPr>
            <a:xfrm>
              <a:off x="1235825" y="2695025"/>
              <a:ext cx="1505100" cy="446400"/>
            </a:xfrm>
            <a:prstGeom prst="rect">
              <a:avLst/>
            </a:prstGeom>
            <a:noFill/>
            <a:ln>
              <a:noFill/>
            </a:ln>
          </p:spPr>
          <p:txBody>
            <a:bodyPr spcFirstLastPara="1" wrap="square" lIns="91425" tIns="91425" rIns="91425" bIns="91425" anchor="t" anchorCtr="0">
              <a:noAutofit/>
            </a:bodyPr>
            <a:lstStyle/>
            <a:p>
              <a:pPr lvl="0">
                <a:lnSpc>
                  <a:spcPct val="115000"/>
                </a:lnSpc>
              </a:pPr>
              <a:r>
                <a:rPr lang="en-US" b="1" dirty="0">
                  <a:latin typeface="Times New Roman" panose="02020603050405020304" pitchFamily="18" charset="0"/>
                  <a:cs typeface="Times New Roman" panose="02020603050405020304" pitchFamily="18" charset="0"/>
                </a:rPr>
                <a:t>Literature Survey and Design Phase</a:t>
              </a:r>
              <a:endParaRPr b="1" dirty="0">
                <a:solidFill>
                  <a:srgbClr val="0C58D3"/>
                </a:solidFill>
                <a:latin typeface="Times New Roman" panose="02020603050405020304" pitchFamily="18" charset="0"/>
                <a:ea typeface="Times New Roman"/>
                <a:cs typeface="Times New Roman" panose="02020603050405020304" pitchFamily="18" charset="0"/>
                <a:sym typeface="Times New Roman"/>
              </a:endParaRPr>
            </a:p>
          </p:txBody>
        </p:sp>
        <p:sp>
          <p:nvSpPr>
            <p:cNvPr id="13" name="Google Shape;190;g2a0c8158c01_0_0"/>
            <p:cNvSpPr txBox="1"/>
            <p:nvPr/>
          </p:nvSpPr>
          <p:spPr>
            <a:xfrm>
              <a:off x="1157660" y="3020209"/>
              <a:ext cx="1545600" cy="872435"/>
            </a:xfrm>
            <a:prstGeom prst="rect">
              <a:avLst/>
            </a:prstGeom>
            <a:noFill/>
            <a:ln>
              <a:noFill/>
            </a:ln>
          </p:spPr>
          <p:txBody>
            <a:bodyPr spcFirstLastPara="1" wrap="square" lIns="91425" tIns="91425" rIns="91425" bIns="91425" anchor="t" anchorCtr="0">
              <a:noAutofit/>
            </a:bodyPr>
            <a:lstStyle/>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Conducted comprehensive literature review of existing ASR approaches</a:t>
              </a:r>
            </a:p>
            <a:p>
              <a:pPr marL="171450" indent="-171450">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Designed hybrid CNN-LSTM architecture for speech recognition</a:t>
              </a:r>
            </a:p>
            <a:p>
              <a:pPr marL="171450" indent="-171450">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Planned data collection and preprocessing pipeline</a:t>
              </a:r>
            </a:p>
          </p:txBody>
        </p:sp>
        <p:cxnSp>
          <p:nvCxnSpPr>
            <p:cNvPr id="14" name="Google Shape;191;g2a0c8158c01_0_0"/>
            <p:cNvCxnSpPr/>
            <p:nvPr/>
          </p:nvCxnSpPr>
          <p:spPr>
            <a:xfrm>
              <a:off x="2180202" y="1695421"/>
              <a:ext cx="718500" cy="741900"/>
            </a:xfrm>
            <a:prstGeom prst="straightConnector1">
              <a:avLst/>
            </a:prstGeom>
            <a:noFill/>
            <a:ln w="9525" cap="flat" cmpd="sng">
              <a:solidFill>
                <a:srgbClr val="0D5DDF"/>
              </a:solidFill>
              <a:prstDash val="solid"/>
              <a:round/>
              <a:headEnd type="none" w="sm" len="sm"/>
              <a:tailEnd type="none" w="sm" len="sm"/>
            </a:ln>
          </p:spPr>
        </p:cxnSp>
        <p:sp>
          <p:nvSpPr>
            <p:cNvPr id="15" name="Google Shape;192;g2a0c8158c01_0_0"/>
            <p:cNvSpPr/>
            <p:nvPr/>
          </p:nvSpPr>
          <p:spPr>
            <a:xfrm flipH="1">
              <a:off x="1083025" y="2306625"/>
              <a:ext cx="1834800" cy="143400"/>
            </a:xfrm>
            <a:prstGeom prst="parallelogram">
              <a:avLst>
                <a:gd name="adj" fmla="val 96952"/>
              </a:avLst>
            </a:prstGeom>
            <a:solidFill>
              <a:srgbClr val="0D5D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t>  </a:t>
              </a:r>
              <a:endParaRPr/>
            </a:p>
          </p:txBody>
        </p:sp>
        <p:sp>
          <p:nvSpPr>
            <p:cNvPr id="16" name="Google Shape;193;g2a0c8158c01_0_0"/>
            <p:cNvSpPr/>
            <p:nvPr/>
          </p:nvSpPr>
          <p:spPr>
            <a:xfrm>
              <a:off x="1083125" y="2460449"/>
              <a:ext cx="1834800" cy="143400"/>
            </a:xfrm>
            <a:prstGeom prst="parallelogram">
              <a:avLst>
                <a:gd name="adj" fmla="val 96952"/>
              </a:avLst>
            </a:prstGeom>
            <a:solidFill>
              <a:srgbClr val="0944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 name="Google Shape;194;g2a0c8158c01_0_0"/>
          <p:cNvGrpSpPr/>
          <p:nvPr/>
        </p:nvGrpSpPr>
        <p:grpSpPr>
          <a:xfrm>
            <a:off x="6028725" y="1629212"/>
            <a:ext cx="2782389" cy="4812386"/>
            <a:chOff x="1083025" y="1442782"/>
            <a:chExt cx="1834900" cy="2500775"/>
          </a:xfrm>
        </p:grpSpPr>
        <p:sp>
          <p:nvSpPr>
            <p:cNvPr id="18" name="Google Shape;195;g2a0c8158c01_0_0"/>
            <p:cNvSpPr txBox="1"/>
            <p:nvPr/>
          </p:nvSpPr>
          <p:spPr>
            <a:xfrm>
              <a:off x="1586306" y="1442782"/>
              <a:ext cx="1064700" cy="2295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600"/>
                </a:spcAft>
                <a:buNone/>
              </a:pPr>
              <a:r>
                <a:rPr lang="en-US" sz="1000" b="1">
                  <a:solidFill>
                    <a:schemeClr val="dk1"/>
                  </a:solidFill>
                  <a:latin typeface="Times New Roman"/>
                  <a:ea typeface="Times New Roman"/>
                  <a:cs typeface="Times New Roman"/>
                  <a:sym typeface="Times New Roman"/>
                </a:rPr>
                <a:t>DECEMBER</a:t>
              </a:r>
              <a:endParaRPr sz="1000" b="1">
                <a:solidFill>
                  <a:schemeClr val="dk1"/>
                </a:solidFill>
                <a:latin typeface="Times New Roman"/>
                <a:ea typeface="Times New Roman"/>
                <a:cs typeface="Times New Roman"/>
                <a:sym typeface="Times New Roman"/>
              </a:endParaRPr>
            </a:p>
          </p:txBody>
        </p:sp>
        <p:sp>
          <p:nvSpPr>
            <p:cNvPr id="19" name="Google Shape;196;g2a0c8158c01_0_0"/>
            <p:cNvSpPr txBox="1"/>
            <p:nvPr/>
          </p:nvSpPr>
          <p:spPr>
            <a:xfrm>
              <a:off x="1235825" y="2695026"/>
              <a:ext cx="1505100" cy="243351"/>
            </a:xfrm>
            <a:prstGeom prst="rect">
              <a:avLst/>
            </a:prstGeom>
            <a:noFill/>
            <a:ln>
              <a:noFill/>
            </a:ln>
          </p:spPr>
          <p:txBody>
            <a:bodyPr spcFirstLastPara="1" wrap="square" lIns="91425" tIns="91425" rIns="91425" bIns="91425" anchor="t" anchorCtr="0">
              <a:noAutofit/>
            </a:bodyPr>
            <a:lstStyle/>
            <a:p>
              <a:pPr>
                <a:lnSpc>
                  <a:spcPct val="115000"/>
                </a:lnSpc>
              </a:pPr>
              <a:r>
                <a:rPr lang="en-US" b="1" dirty="0">
                  <a:latin typeface="Times New Roman" panose="02020603050405020304" pitchFamily="18" charset="0"/>
                  <a:cs typeface="Times New Roman" panose="02020603050405020304" pitchFamily="18" charset="0"/>
                </a:rPr>
                <a:t>Implementation, Evaluation, and Documentation</a:t>
              </a:r>
              <a:endParaRPr lang="en-US" dirty="0">
                <a:latin typeface="Times New Roman" panose="02020603050405020304" pitchFamily="18" charset="0"/>
                <a:cs typeface="Times New Roman" panose="02020603050405020304" pitchFamily="18" charset="0"/>
              </a:endParaRPr>
            </a:p>
            <a:p>
              <a:pPr lvl="0">
                <a:lnSpc>
                  <a:spcPct val="115000"/>
                </a:lnSpc>
              </a:pPr>
              <a:endParaRPr sz="1000" b="1" dirty="0">
                <a:solidFill>
                  <a:schemeClr val="dk1"/>
                </a:solidFill>
                <a:latin typeface="Times New Roman"/>
                <a:ea typeface="Times New Roman"/>
                <a:cs typeface="Times New Roman"/>
                <a:sym typeface="Times New Roman"/>
              </a:endParaRPr>
            </a:p>
          </p:txBody>
        </p:sp>
        <p:sp>
          <p:nvSpPr>
            <p:cNvPr id="20" name="Google Shape;197;g2a0c8158c01_0_0"/>
            <p:cNvSpPr txBox="1"/>
            <p:nvPr/>
          </p:nvSpPr>
          <p:spPr>
            <a:xfrm>
              <a:off x="1163461" y="3125996"/>
              <a:ext cx="1545600" cy="817561"/>
            </a:xfrm>
            <a:prstGeom prst="rect">
              <a:avLst/>
            </a:prstGeom>
            <a:noFill/>
            <a:ln>
              <a:noFill/>
            </a:ln>
          </p:spPr>
          <p:txBody>
            <a:bodyPr spcFirstLastPara="1" wrap="square" lIns="91425" tIns="91425" rIns="91425" bIns="91425" anchor="t" anchorCtr="0">
              <a:noAutofit/>
            </a:bodyPr>
            <a:lstStyle/>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Implemented complete system using </a:t>
              </a:r>
              <a:r>
                <a:rPr lang="en-US" sz="1200" dirty="0" err="1">
                  <a:latin typeface="Times New Roman" panose="02020603050405020304" pitchFamily="18" charset="0"/>
                  <a:cs typeface="Times New Roman" panose="02020603050405020304" pitchFamily="18" charset="0"/>
                </a:rPr>
                <a:t>PyTorch</a:t>
              </a:r>
              <a:r>
                <a:rPr lang="en-US" sz="1200" dirty="0">
                  <a:latin typeface="Times New Roman" panose="02020603050405020304" pitchFamily="18" charset="0"/>
                  <a:cs typeface="Times New Roman" panose="02020603050405020304" pitchFamily="18" charset="0"/>
                </a:rPr>
                <a:t> framework</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Trained model on custom dataset of approximately 1000 voice samples</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Evaluated performance and completed documentation</a:t>
              </a:r>
            </a:p>
          </p:txBody>
        </p:sp>
        <p:cxnSp>
          <p:nvCxnSpPr>
            <p:cNvPr id="21" name="Google Shape;198;g2a0c8158c01_0_0"/>
            <p:cNvCxnSpPr/>
            <p:nvPr/>
          </p:nvCxnSpPr>
          <p:spPr>
            <a:xfrm>
              <a:off x="2180202" y="1695421"/>
              <a:ext cx="718500" cy="741900"/>
            </a:xfrm>
            <a:prstGeom prst="straightConnector1">
              <a:avLst/>
            </a:prstGeom>
            <a:noFill/>
            <a:ln w="9525" cap="flat" cmpd="sng">
              <a:solidFill>
                <a:srgbClr val="C2C2C2"/>
              </a:solidFill>
              <a:prstDash val="solid"/>
              <a:round/>
              <a:headEnd type="none" w="sm" len="sm"/>
              <a:tailEnd type="none" w="sm" len="sm"/>
            </a:ln>
          </p:spPr>
        </p:cxnSp>
        <p:sp>
          <p:nvSpPr>
            <p:cNvPr id="22" name="Google Shape;199;g2a0c8158c01_0_0"/>
            <p:cNvSpPr/>
            <p:nvPr/>
          </p:nvSpPr>
          <p:spPr>
            <a:xfrm flipH="1">
              <a:off x="1083025" y="2306625"/>
              <a:ext cx="1834800" cy="143400"/>
            </a:xfrm>
            <a:prstGeom prst="parallelogram">
              <a:avLst>
                <a:gd name="adj" fmla="val 96952"/>
              </a:avLst>
            </a:pr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t>  </a:t>
              </a:r>
              <a:endParaRPr/>
            </a:p>
          </p:txBody>
        </p:sp>
        <p:sp>
          <p:nvSpPr>
            <p:cNvPr id="23" name="Google Shape;200;g2a0c8158c01_0_0"/>
            <p:cNvSpPr/>
            <p:nvPr/>
          </p:nvSpPr>
          <p:spPr>
            <a:xfrm>
              <a:off x="1083125" y="2460449"/>
              <a:ext cx="1834800" cy="143400"/>
            </a:xfrm>
            <a:prstGeom prst="parallelogram">
              <a:avLst>
                <a:gd name="adj" fmla="val 96952"/>
              </a:avLst>
            </a:pr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3060860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pic>
        <p:nvPicPr>
          <p:cNvPr id="205" name="Google Shape;205;p9" descr="Business Thank-You Letter Examples"/>
          <p:cNvPicPr preferRelativeResize="0"/>
          <p:nvPr/>
        </p:nvPicPr>
        <p:blipFill rotWithShape="1">
          <a:blip r:embed="rId3">
            <a:alphaModFix/>
          </a:blip>
          <a:srcRect/>
          <a:stretch/>
        </p:blipFill>
        <p:spPr>
          <a:xfrm>
            <a:off x="1143000" y="1524000"/>
            <a:ext cx="7086600" cy="43434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433</TotalTime>
  <Words>2210</Words>
  <Application>Microsoft Office PowerPoint</Application>
  <PresentationFormat>On-screen Show (4:3)</PresentationFormat>
  <Paragraphs>132</Paragraphs>
  <Slides>20</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Calibri</vt:lpstr>
      <vt:lpstr>Arial</vt:lpstr>
      <vt:lpstr>Times New Roman</vt:lpstr>
      <vt:lpstr>Office Theme</vt:lpstr>
      <vt:lpstr>Final Year Project titled “Speech To Text using CNN-LSTM” AY 25-26</vt:lpstr>
      <vt:lpstr>AGENDA</vt:lpstr>
      <vt:lpstr>Motivation</vt:lpstr>
      <vt:lpstr>ABSTRACT</vt:lpstr>
      <vt:lpstr>INTRODUCTION</vt:lpstr>
      <vt:lpstr>LITERATURE SURVEY</vt:lpstr>
      <vt:lpstr>LITERATURE SURVEY</vt:lpstr>
      <vt:lpstr>LITERATURE SURVEY</vt:lpstr>
      <vt:lpstr> PROPOSED METHODOLOGY</vt:lpstr>
      <vt:lpstr> PROPOSED METHODOLOGY</vt:lpstr>
      <vt:lpstr> PROPOSED METHODOLOGY</vt:lpstr>
      <vt:lpstr> PROPOSED METHODOLOGY</vt:lpstr>
      <vt:lpstr> RESULTS AND DISCUSSION</vt:lpstr>
      <vt:lpstr> RESULTS AND DISCUSSION</vt:lpstr>
      <vt:lpstr> CONCLUSION</vt:lpstr>
      <vt:lpstr> FUTURE WORK</vt:lpstr>
      <vt:lpstr> REFERENCES</vt:lpstr>
      <vt:lpstr> REFERENCES</vt:lpstr>
      <vt:lpstr>TIMELINE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Year Project titled “Friend Recommendation in Social Media using GNN” AY 25-26</dc:title>
  <dc:creator>cmrit</dc:creator>
  <cp:lastModifiedBy>Tushar BS</cp:lastModifiedBy>
  <cp:revision>17</cp:revision>
  <dcterms:created xsi:type="dcterms:W3CDTF">2017-04-04T05:55:24Z</dcterms:created>
  <dcterms:modified xsi:type="dcterms:W3CDTF">2026-01-08T11:56:01Z</dcterms:modified>
</cp:coreProperties>
</file>